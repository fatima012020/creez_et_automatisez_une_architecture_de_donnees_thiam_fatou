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01" autoAdjust="0"/>
  </p:normalViewPr>
  <p:slideViewPr>
    <p:cSldViewPr snapToGrid="0" snapToObjects="1">
      <p:cViewPr varScale="1">
        <p:scale>
          <a:sx n="49" d="100"/>
          <a:sy n="49" d="100"/>
        </p:scale>
        <p:origin x="922" y="62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486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6140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SPORT DATA SOLUTION  •  PROJET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149840" y="651052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Fatou THIAM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"/>
            <a:ext cx="12191695" cy="64008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1005840"/>
            <a:ext cx="3749040" cy="4480560"/>
          </a:xfrm>
          <a:prstGeom prst="roundRect">
            <a:avLst>
              <a:gd name="adj" fmla="val 2927"/>
            </a:avLst>
          </a:prstGeom>
          <a:solidFill>
            <a:srgbClr val="EAF0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38160" y="141732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F6BFF"/>
                </a:solidFill>
              </a:rPr>
              <a:t>SPORT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2F6BFF"/>
                </a:solidFill>
              </a:rPr>
              <a:t>DATA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2F6BFF"/>
                </a:solidFill>
              </a:rPr>
              <a:t>SOLUTION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324D"/>
                </a:solidFill>
              </a:rPr>
              <a:t>Création et automatisation</a:t>
            </a:r>
            <a:endParaRPr lang="en-US" sz="2900" dirty="0"/>
          </a:p>
          <a:p>
            <a:pPr marL="0" indent="0">
              <a:buNone/>
            </a:pPr>
            <a:r>
              <a:rPr lang="en-US" sz="2900" b="1" dirty="0">
                <a:solidFill>
                  <a:srgbClr val="17324D"/>
                </a:solidFill>
              </a:rPr>
              <a:t>d’une architecture de données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13232" y="281635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788A"/>
                </a:solidFill>
              </a:rPr>
              <a:t>Pipeline de données sportives • traitement temps réel • qualité • Power BI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70332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377190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POSTGRESQL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76272" y="370332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7557D5"/>
          </a:solidFill>
          <a:ln w="12700">
            <a:solidFill>
              <a:srgbClr val="7557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9424" y="3771900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DEBEZIUM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47872" y="370332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1024" y="3771900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REDPANDA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19472" y="370332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92624" y="3771900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PYSPARK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08192" y="370332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29B6C8"/>
          </a:solidFill>
          <a:ln w="12700">
            <a:solidFill>
              <a:srgbClr val="29B6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1344" y="3771900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DELTA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13232" y="49194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Fatou THIAM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3232" y="5303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</a:rPr>
              <a:t>Parcours Data Engineer — OpenClassrooms • Projet 12 • 2026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</a:rPr>
              <a:t>1. Contexte et besoin métier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</a:rPr>
              <a:t>Un POC pour mesurer l’activité physique et calculer l’impact des avantages sportifs.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73152" cy="182880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8191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Objectifs du POC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947672"/>
            <a:ext cx="304495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20" dirty="0">
                <a:solidFill>
                  <a:srgbClr val="243447"/>
                </a:solidFill>
              </a:rPr>
              <a:t>Tester la faisabilité technique</a:t>
            </a:r>
            <a:endParaRPr lang="en-US" sz="1120" dirty="0"/>
          </a:p>
          <a:p>
            <a:r>
              <a:rPr lang="en-US" sz="1120" dirty="0">
                <a:solidFill>
                  <a:srgbClr val="243447"/>
                </a:solidFill>
              </a:rPr>
              <a:t>Déterminer les données à collecter</a:t>
            </a:r>
            <a:endParaRPr lang="en-US" sz="1120" dirty="0"/>
          </a:p>
          <a:p>
            <a:r>
              <a:rPr lang="en-US" sz="1120" dirty="0">
                <a:solidFill>
                  <a:srgbClr val="243447"/>
                </a:solidFill>
              </a:rPr>
              <a:t>Calculer l’impact financier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4370832" y="14173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417320"/>
            <a:ext cx="73152" cy="1828800"/>
          </a:xfrm>
          <a:prstGeom prst="rect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58191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Prime sportive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9432" y="1947672"/>
            <a:ext cx="304495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fr-FR" sz="1120" dirty="0">
                <a:solidFill>
                  <a:srgbClr val="243447"/>
                </a:solidFill>
              </a:rPr>
              <a:t>5 % du salaire annuel brut pour les salariés dont le trajet domicile–travail sportif est validé selon les critères définis.</a:t>
            </a:r>
            <a:endParaRPr lang="en-US" sz="1120" dirty="0">
              <a:solidFill>
                <a:srgbClr val="243447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01584" y="14173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1584" y="1417320"/>
            <a:ext cx="73152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0184" y="1581912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Journées bien-être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30184" y="1947672"/>
            <a:ext cx="304495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fr-FR" sz="1120" dirty="0">
                <a:solidFill>
                  <a:srgbClr val="243447"/>
                </a:solidFill>
              </a:rPr>
              <a:t>5 journées pour les salariés ayant réalisé au moins 15 activités physiques au cours des 12 derniers mois.</a:t>
            </a:r>
            <a:endParaRPr lang="en-US" sz="1120" dirty="0">
              <a:solidFill>
                <a:srgbClr val="243447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Le besoin central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224528"/>
            <a:ext cx="1069848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3447"/>
                </a:solidFill>
              </a:rPr>
              <a:t>Construire une architecture fiable, automatisée et observable, capable de transformer des données RH et sportives en avantages salariés mesurables.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017520" y="523036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6788A"/>
                </a:solidFill>
              </a:rPr>
              <a:t>Les paramètres métier sont conçus pour pouvoir évoluer.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</a:rPr>
              <a:t>2. Données sources et audit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94360" y="854964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</a:rPr>
              <a:t>Point de départ : fiabiliser les données RH avant d’automatiser les traitements.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527182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453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6BFF"/>
                </a:solidFill>
              </a:rPr>
              <a:t>161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5528" y="1956816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88A"/>
                </a:solidFill>
              </a:rPr>
              <a:t>salariés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2898648" y="1527182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15453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557D5"/>
                </a:solidFill>
              </a:rPr>
              <a:t>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035808" y="1956816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88A"/>
                </a:solidFill>
              </a:rPr>
              <a:t>Business Units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5193792" y="1527989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15453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BAE66"/>
                </a:solidFill>
              </a:rPr>
              <a:t>68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76088" y="1956816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88A"/>
                </a:solidFill>
              </a:rPr>
              <a:t>trajets sportifs contrôlés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7379208" y="1525299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800" y="15453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2 </a:t>
            </a:r>
            <a:r>
              <a:rPr lang="en-US" sz="2200" b="1" dirty="0" smtClean="0">
                <a:solidFill>
                  <a:srgbClr val="F59E0B"/>
                </a:solidFill>
              </a:rPr>
              <a:t>535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516368" y="1956816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88A"/>
                </a:solidFill>
              </a:rPr>
              <a:t>activités sportives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9592056" y="1533098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0" y="15453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 smtClean="0">
                <a:solidFill>
                  <a:srgbClr val="29B6C8"/>
                </a:solidFill>
              </a:rPr>
              <a:t>2550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756648" y="1956816"/>
            <a:ext cx="1655064" cy="303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980" dirty="0">
                <a:solidFill>
                  <a:srgbClr val="66788A"/>
                </a:solidFill>
              </a:rPr>
              <a:t>activités après tests du pipeline</a:t>
            </a:r>
            <a:endParaRPr lang="en-US" sz="980" dirty="0">
              <a:solidFill>
                <a:srgbClr val="66788A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69172" y="2819041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5921" y="2788920"/>
            <a:ext cx="73152" cy="201168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295351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Données RH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319272"/>
            <a:ext cx="2999232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20" dirty="0">
                <a:solidFill>
                  <a:srgbClr val="243447"/>
                </a:solidFill>
              </a:rPr>
              <a:t>Identifiant salarié</a:t>
            </a:r>
            <a:endParaRPr lang="en-US" sz="1120" dirty="0"/>
          </a:p>
          <a:p>
            <a:r>
              <a:rPr lang="en-US" sz="1120" dirty="0">
                <a:solidFill>
                  <a:srgbClr val="243447"/>
                </a:solidFill>
              </a:rPr>
              <a:t>Salaire brut</a:t>
            </a:r>
            <a:endParaRPr lang="en-US" sz="1120" dirty="0"/>
          </a:p>
          <a:p>
            <a:r>
              <a:rPr lang="en-US" sz="1120" dirty="0">
                <a:solidFill>
                  <a:srgbClr val="243447"/>
                </a:solidFill>
              </a:rPr>
              <a:t>Business Unit</a:t>
            </a:r>
            <a:endParaRPr lang="en-US" sz="1120" dirty="0"/>
          </a:p>
          <a:p>
            <a:r>
              <a:rPr lang="en-US" sz="1120" dirty="0">
                <a:solidFill>
                  <a:srgbClr val="243447"/>
                </a:solidFill>
              </a:rPr>
              <a:t>Adresse domicile</a:t>
            </a:r>
            <a:endParaRPr lang="en-US" sz="1120" dirty="0"/>
          </a:p>
          <a:p>
            <a:r>
              <a:rPr lang="en-US" sz="1120" dirty="0">
                <a:solidFill>
                  <a:srgbClr val="243447"/>
                </a:solidFill>
              </a:rPr>
              <a:t>Mode de déplacement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4389120" y="2819041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07408" y="2788920"/>
            <a:ext cx="73152" cy="2011680"/>
          </a:xfrm>
          <a:prstGeom prst="rect">
            <a:avLst/>
          </a:prstGeom>
          <a:solidFill>
            <a:srgbClr val="7557D5"/>
          </a:solidFill>
          <a:ln w="12700">
            <a:solidFill>
              <a:srgbClr val="7557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36008" y="295351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Profil sportif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36008" y="3319272"/>
            <a:ext cx="2999232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20" dirty="0">
                <a:solidFill>
                  <a:srgbClr val="243447"/>
                </a:solidFill>
              </a:rPr>
              <a:t>Pratique sportive déclarée</a:t>
            </a:r>
            <a:endParaRPr lang="en-US" sz="1120" dirty="0"/>
          </a:p>
          <a:p>
            <a:r>
              <a:rPr lang="en-US" sz="1120" dirty="0">
                <a:solidFill>
                  <a:srgbClr val="243447"/>
                </a:solidFill>
              </a:rPr>
              <a:t>Cohérence des valeurs</a:t>
            </a:r>
            <a:endParaRPr lang="en-US" sz="1120" dirty="0"/>
          </a:p>
          <a:p>
            <a:r>
              <a:rPr lang="en-US" sz="1120" dirty="0">
                <a:solidFill>
                  <a:srgbClr val="243447"/>
                </a:solidFill>
              </a:rPr>
              <a:t>Population utile pour la simulation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8129016" y="278892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29016" y="2788920"/>
            <a:ext cx="73152" cy="2011680"/>
          </a:xfrm>
          <a:prstGeom prst="rect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57616" y="295351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Contrôles initiaux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57616" y="3319272"/>
            <a:ext cx="2999232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20" dirty="0">
                <a:solidFill>
                  <a:srgbClr val="243447"/>
                </a:solidFill>
              </a:rPr>
              <a:t>Valeurs manquantes</a:t>
            </a:r>
            <a:endParaRPr lang="en-US" sz="1120" dirty="0"/>
          </a:p>
          <a:p>
            <a:r>
              <a:rPr lang="en-US" sz="1120" dirty="0">
                <a:solidFill>
                  <a:srgbClr val="243447"/>
                </a:solidFill>
              </a:rPr>
              <a:t>Doublons</a:t>
            </a:r>
            <a:endParaRPr lang="en-US" sz="1120" dirty="0"/>
          </a:p>
          <a:p>
            <a:r>
              <a:rPr lang="en-US" sz="1120" dirty="0">
                <a:solidFill>
                  <a:srgbClr val="243447"/>
                </a:solidFill>
              </a:rPr>
              <a:t>Types et formats</a:t>
            </a:r>
            <a:endParaRPr lang="en-US" sz="1120" dirty="0"/>
          </a:p>
          <a:p>
            <a:r>
              <a:rPr lang="en-US" sz="1120" dirty="0">
                <a:solidFill>
                  <a:srgbClr val="243447"/>
                </a:solidFill>
              </a:rPr>
              <a:t>Cohérence métier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1188720" y="525780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Résultat : une base propre pour alimenter les étapes Google Maps, simulation Strava et pipeline.</a:t>
            </a:r>
            <a:endParaRPr lang="en-US" sz="15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33" name="ZoneTexte 32"/>
          <p:cNvSpPr txBox="1"/>
          <p:nvPr/>
        </p:nvSpPr>
        <p:spPr>
          <a:xfrm>
            <a:off x="2073225" y="1037951"/>
            <a:ext cx="16754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>
                <a:solidFill>
                  <a:srgbClr val="17324D"/>
                </a:solidFill>
              </a:rPr>
              <a:t>Données sources</a:t>
            </a:r>
            <a:endParaRPr lang="fr-FR" sz="1400" b="1" dirty="0">
              <a:solidFill>
                <a:srgbClr val="17324D"/>
              </a:solidFill>
            </a:endParaRPr>
          </a:p>
        </p:txBody>
      </p:sp>
      <p:sp>
        <p:nvSpPr>
          <p:cNvPr id="34" name="ZoneTexte 33"/>
          <p:cNvSpPr txBox="1"/>
          <p:nvPr/>
        </p:nvSpPr>
        <p:spPr>
          <a:xfrm>
            <a:off x="6817013" y="1009562"/>
            <a:ext cx="27703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>
                <a:solidFill>
                  <a:srgbClr val="17324D"/>
                </a:solidFill>
              </a:rPr>
              <a:t>Données produites par le POC</a:t>
            </a:r>
            <a:endParaRPr lang="fr-FR" sz="1400" b="1" dirty="0">
              <a:solidFill>
                <a:srgbClr val="17324D"/>
              </a:solidFill>
            </a:endParaRPr>
          </a:p>
        </p:txBody>
      </p:sp>
      <p:cxnSp>
        <p:nvCxnSpPr>
          <p:cNvPr id="36" name="Connecteur en angle 35"/>
          <p:cNvCxnSpPr/>
          <p:nvPr/>
        </p:nvCxnSpPr>
        <p:spPr>
          <a:xfrm rot="5400000">
            <a:off x="7096046" y="444962"/>
            <a:ext cx="227997" cy="1984248"/>
          </a:xfrm>
          <a:prstGeom prst="bent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en angle 37"/>
          <p:cNvCxnSpPr/>
          <p:nvPr/>
        </p:nvCxnSpPr>
        <p:spPr>
          <a:xfrm rot="16200000" flipH="1">
            <a:off x="9257864" y="274486"/>
            <a:ext cx="215759" cy="2327148"/>
          </a:xfrm>
          <a:prstGeom prst="bent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en angle 45"/>
          <p:cNvCxnSpPr/>
          <p:nvPr/>
        </p:nvCxnSpPr>
        <p:spPr>
          <a:xfrm rot="16200000" flipH="1">
            <a:off x="8218675" y="1312767"/>
            <a:ext cx="207960" cy="228600"/>
          </a:xfrm>
          <a:prstGeom prst="bent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en angle 49"/>
          <p:cNvCxnSpPr>
            <a:stCxn id="33" idx="2"/>
            <a:endCxn id="4" idx="0"/>
          </p:cNvCxnSpPr>
          <p:nvPr/>
        </p:nvCxnSpPr>
        <p:spPr>
          <a:xfrm rot="5400000">
            <a:off x="2233431" y="849658"/>
            <a:ext cx="181454" cy="1173595"/>
          </a:xfrm>
          <a:prstGeom prst="bent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en angle 51"/>
          <p:cNvCxnSpPr>
            <a:stCxn id="33" idx="2"/>
            <a:endCxn id="7" idx="0"/>
          </p:cNvCxnSpPr>
          <p:nvPr/>
        </p:nvCxnSpPr>
        <p:spPr>
          <a:xfrm rot="16200000" flipH="1">
            <a:off x="3339854" y="916828"/>
            <a:ext cx="181454" cy="1039253"/>
          </a:xfrm>
          <a:prstGeom prst="bent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35" name="Image 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38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</a:rPr>
              <a:t>4. Validation des trajets domicile–travail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</a:rPr>
              <a:t>Contrôler automatiquement les déclarations sportives avec Google Maps.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73152" cy="1828800"/>
          </a:xfrm>
          <a:prstGeom prst="rect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8191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Marche / Running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947672"/>
            <a:ext cx="281635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20" dirty="0">
                <a:solidFill>
                  <a:srgbClr val="243447"/>
                </a:solidFill>
              </a:rPr>
              <a:t>Mode Google : WALK</a:t>
            </a:r>
            <a:endParaRPr lang="en-US" sz="1120" dirty="0"/>
          </a:p>
          <a:p>
            <a:r>
              <a:rPr lang="en-US" sz="1120" dirty="0">
                <a:solidFill>
                  <a:srgbClr val="243447"/>
                </a:solidFill>
              </a:rPr>
              <a:t>Distance maximale : 15 km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4160520" y="141732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1417320"/>
            <a:ext cx="73152" cy="1828800"/>
          </a:xfrm>
          <a:prstGeom prst="rect">
            <a:avLst/>
          </a:prstGeom>
          <a:solidFill>
            <a:srgbClr val="29B6C8"/>
          </a:solidFill>
          <a:ln w="12700">
            <a:solidFill>
              <a:srgbClr val="29B6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58191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Vélo / Trottinette / Autres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1947672"/>
            <a:ext cx="281635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20" dirty="0">
                <a:solidFill>
                  <a:srgbClr val="243447"/>
                </a:solidFill>
              </a:rPr>
              <a:t>Mode Google : BICYCLE</a:t>
            </a:r>
            <a:endParaRPr lang="en-US" sz="1120" dirty="0"/>
          </a:p>
          <a:p>
            <a:r>
              <a:rPr lang="en-US" sz="1120" dirty="0">
                <a:solidFill>
                  <a:srgbClr val="243447"/>
                </a:solidFill>
              </a:rPr>
              <a:t>Distance maximale : 25 km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7635240" y="1417320"/>
            <a:ext cx="37947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5240" y="1417320"/>
            <a:ext cx="73152" cy="182880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1581912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Principe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63840" y="1947672"/>
            <a:ext cx="341071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243447"/>
                </a:solidFill>
              </a:rPr>
              <a:t>Adresse domicile → API Google Maps → distance → comparaison au seuil → résultat stocké dans commute_validation.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1965960" y="397764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41056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6BFF"/>
                </a:solidFill>
              </a:rPr>
              <a:t>68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075688" y="4517136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88A"/>
                </a:solidFill>
              </a:rPr>
              <a:t>salariés contrôlés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983480" y="397764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41056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BAE66"/>
                </a:solidFill>
              </a:rPr>
              <a:t>68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093208" y="4517136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88A"/>
                </a:solidFill>
              </a:rPr>
              <a:t>trajets valides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001000" y="397764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41056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110728" y="4517136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88A"/>
                </a:solidFill>
              </a:rPr>
              <a:t>anomalie détectée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2103120" y="53035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</a:rPr>
              <a:t>Une déclaration incohérente peut ainsi être remontée automatiquement.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</a:rPr>
              <a:t>5. Simulation des données sportives type Strava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</a:rPr>
              <a:t>Créer un historique réaliste avant une future connexion directe à Strava.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55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25880" y="15453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Sélection des salariés sportifs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1764792"/>
            <a:ext cx="365760" cy="0"/>
          </a:xfrm>
          <a:prstGeom prst="line">
            <a:avLst/>
          </a:prstGeom>
          <a:noFill/>
          <a:ln w="2540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37560" y="1508760"/>
            <a:ext cx="502920" cy="502920"/>
          </a:xfrm>
          <a:prstGeom prst="ellipse">
            <a:avLst/>
          </a:prstGeom>
          <a:solidFill>
            <a:srgbClr val="7557D5"/>
          </a:solidFill>
          <a:ln w="12700">
            <a:solidFill>
              <a:srgbClr val="7557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655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77640" y="15453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Génération sur 365 jours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77840" y="1764792"/>
            <a:ext cx="365760" cy="0"/>
          </a:xfrm>
          <a:prstGeom prst="line">
            <a:avLst/>
          </a:prstGeom>
          <a:noFill/>
          <a:ln w="2540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89320" y="150876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1655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29400" y="15453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Règles par type de sport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764792"/>
            <a:ext cx="365760" cy="0"/>
          </a:xfrm>
          <a:prstGeom prst="line">
            <a:avLst/>
          </a:prstGeom>
          <a:noFill/>
          <a:ln w="2540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641080" y="1508760"/>
            <a:ext cx="502920" cy="502920"/>
          </a:xfrm>
          <a:prstGeom prst="ellipse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41080" y="165506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281160" y="15453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Contrôles de cohérence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51560" y="288036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300837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2 </a:t>
            </a:r>
            <a:r>
              <a:rPr lang="en-US" sz="2200" b="1" dirty="0" smtClean="0">
                <a:solidFill>
                  <a:srgbClr val="F59E0B"/>
                </a:solidFill>
              </a:rPr>
              <a:t>535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61288" y="3419856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88A"/>
                </a:solidFill>
              </a:rPr>
              <a:t>activités générées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3703320" y="288036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300837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557D5"/>
                </a:solidFill>
              </a:rPr>
              <a:t>12 mois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813048" y="3419856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88A"/>
                </a:solidFill>
              </a:rPr>
              <a:t>d’historique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355080" y="288036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300837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6BFF"/>
                </a:solidFill>
              </a:rPr>
              <a:t>7 champs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464808" y="3419856"/>
            <a:ext cx="211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88A"/>
                </a:solidFill>
              </a:rPr>
              <a:t>métadonnées principales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9006840" y="288036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0" y="300837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BAE66"/>
                </a:solidFill>
              </a:rPr>
              <a:t>PostgreSQL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116568" y="3419856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88A"/>
                </a:solidFill>
              </a:rPr>
              <a:t>stockage principal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1051560" y="4343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447"/>
                </a:solidFill>
              </a:rPr>
              <a:t>ID • ID salarié • date de début • type • distance • date de fin • commentaire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011680" y="49377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6788A"/>
                </a:solidFill>
              </a:rPr>
              <a:t>La distance reste vide lorsque l’activité ne s’y prête pas (ex. escalade).</a:t>
            </a:r>
            <a:endParaRPr lang="en-US" sz="11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</a:rPr>
              <a:t>6. Pipeline temps réel : CDC → streaming → Delta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</a:rPr>
              <a:t>Détecter une nouvelle activité sans relancer manuellement toute la chaîne.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4688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INSERT / UPDATE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606040" y="2404872"/>
            <a:ext cx="320040" cy="0"/>
          </a:xfrm>
          <a:prstGeom prst="line">
            <a:avLst/>
          </a:prstGeom>
          <a:noFill/>
          <a:ln w="25400">
            <a:solidFill>
              <a:srgbClr val="8FA1B4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26080" y="182880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7557D5"/>
          </a:solidFill>
          <a:ln w="12700">
            <a:solidFill>
              <a:srgbClr val="7557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35808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Debezium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35808" y="24688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Capture CDC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0600" y="2404872"/>
            <a:ext cx="320040" cy="0"/>
          </a:xfrm>
          <a:prstGeom prst="line">
            <a:avLst/>
          </a:prstGeom>
          <a:noFill/>
          <a:ln w="25400">
            <a:solidFill>
              <a:srgbClr val="8FA1B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20640" y="182880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0368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Redpanda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30368" y="24688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Topic activités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95160" y="2404872"/>
            <a:ext cx="320040" cy="0"/>
          </a:xfrm>
          <a:prstGeom prst="line">
            <a:avLst/>
          </a:prstGeom>
          <a:noFill/>
          <a:ln w="25400">
            <a:solidFill>
              <a:srgbClr val="8FA1B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15200" y="182880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24928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PySpark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24928" y="24688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Validation + enrichissement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89720" y="2404872"/>
            <a:ext cx="320040" cy="0"/>
          </a:xfrm>
          <a:prstGeom prst="line">
            <a:avLst/>
          </a:prstGeom>
          <a:noFill/>
          <a:ln w="25400">
            <a:solidFill>
              <a:srgbClr val="8FA1B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509760" y="182880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29B6C8"/>
          </a:solidFill>
          <a:ln w="12700">
            <a:solidFill>
              <a:srgbClr val="29B6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19488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Delta Lake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19488" y="24688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Historique analytique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60120" y="388620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3886200"/>
            <a:ext cx="73152" cy="141732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4050792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Démo live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4416552"/>
            <a:ext cx="258775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243447"/>
                </a:solidFill>
              </a:rPr>
              <a:t>Injection d’une activité dans PostgreSQL puis observation de sa propagation dans le flux.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4617720" y="388620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388620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4050792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Qualité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46320" y="4416552"/>
            <a:ext cx="258775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243447"/>
                </a:solidFill>
              </a:rPr>
              <a:t>Une distance négative est isolée comme donnée invalide avant la couche métier.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8275320" y="3886200"/>
            <a:ext cx="2971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75320" y="3886200"/>
            <a:ext cx="73152" cy="1417320"/>
          </a:xfrm>
          <a:prstGeom prst="rect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0" y="4050792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Résultat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503920" y="4416552"/>
            <a:ext cx="258775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243447"/>
                </a:solidFill>
              </a:rPr>
              <a:t>Les activités valides alimentent Delta et les traitements aval.</a:t>
            </a:r>
            <a:endParaRPr lang="en-US" sz="112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</a:rPr>
              <a:t>7. Calcul des avantages salariés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</a:rPr>
              <a:t>Transformer les données sportives en règles métier lisibles et auditables.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4937760" cy="3566160"/>
          </a:xfrm>
          <a:prstGeom prst="roundRect">
            <a:avLst>
              <a:gd name="adj" fmla="val 2564"/>
            </a:avLst>
          </a:prstGeom>
          <a:solidFill>
            <a:srgbClr val="ECF8F1"/>
          </a:solidFill>
          <a:ln w="12700">
            <a:solidFill>
              <a:srgbClr val="C6EA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BAE66"/>
                </a:solidFill>
              </a:rPr>
              <a:t>PRIME SPORTIVE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2606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Trajet sportif validé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63240" y="2971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BAE66"/>
                </a:solidFill>
              </a:rPr>
              <a:t>↓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34564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AE66"/>
                </a:solidFill>
              </a:rPr>
              <a:t>5 % du salaire annuel brut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4160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88A"/>
                </a:solidFill>
              </a:rPr>
              <a:t>Montant potentiel distingué du montant réellement attribué.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463040"/>
            <a:ext cx="4937760" cy="3566160"/>
          </a:xfrm>
          <a:prstGeom prst="roundRect">
            <a:avLst>
              <a:gd name="adj" fmla="val 2564"/>
            </a:avLst>
          </a:prstGeom>
          <a:solidFill>
            <a:srgbClr val="FFF5E6"/>
          </a:solidFill>
          <a:ln w="12700">
            <a:solidFill>
              <a:srgbClr val="F5D9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JOURNÉES BIEN-ÊTRE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766560" y="25008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600" b="1" dirty="0">
                <a:solidFill>
                  <a:srgbClr val="17324D"/>
                </a:solidFill>
              </a:rPr>
              <a:t>5 journées pour les salariés ayant réalisé au moins 15 activités physiques au cours des 12 derniers mois.</a:t>
            </a:r>
            <a:endParaRPr lang="en-US" sz="1600" b="1" dirty="0">
              <a:solidFill>
                <a:srgbClr val="17324D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41080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59E0B"/>
                </a:solidFill>
              </a:rPr>
              <a:t>↓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766560" y="35478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5 jours bien-être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03720" y="4160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88A"/>
                </a:solidFill>
              </a:rPr>
              <a:t>Le calcul utilise une fenêtre dynamique de 12 mois.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</a:rPr>
              <a:t>8. Monitoring et qualité des données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</a:rPr>
              <a:t>Valider en continu l’intégration, la volumétrie et la cohérence du pipeline.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4533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6BFF"/>
                </a:solidFill>
              </a:rPr>
              <a:t>2 550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41248" y="1956816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88A"/>
                </a:solidFill>
              </a:rPr>
              <a:t>PostgreSQL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2880360" y="141732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54533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B6C8"/>
                </a:solidFill>
              </a:rPr>
              <a:t>2 550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990088" y="1956816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88A"/>
                </a:solidFill>
              </a:rPr>
              <a:t>Delta activities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5029200" y="141732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154533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BAE66"/>
                </a:solidFill>
              </a:rPr>
              <a:t>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138928" y="1956816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88A"/>
                </a:solidFill>
              </a:rPr>
              <a:t>écart de volume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7178040" y="141732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154533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557D5"/>
                </a:solidFill>
              </a:rPr>
              <a:t>161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287768" y="1956816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88A"/>
                </a:solidFill>
              </a:rPr>
              <a:t>employee_benefits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9326880" y="141732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64040" y="154533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BAE66"/>
                </a:solidFill>
              </a:rPr>
              <a:t>OK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436608" y="1956816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66788A"/>
                </a:solidFill>
              </a:rPr>
              <a:t>état global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73152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</a:rPr>
              <a:t>7 contrôles historisés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68680" y="3429000"/>
            <a:ext cx="201168" cy="201168"/>
          </a:xfrm>
          <a:prstGeom prst="ellipse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16152" y="341071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447"/>
                </a:solidFill>
              </a:rPr>
              <a:t>0  Doublons activity_id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68680" y="3931920"/>
            <a:ext cx="201168" cy="201168"/>
          </a:xfrm>
          <a:prstGeom prst="ellipse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16152" y="391363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447"/>
                </a:solidFill>
              </a:rPr>
              <a:t>0  activity_id NULL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8680" y="4434840"/>
            <a:ext cx="201168" cy="201168"/>
          </a:xfrm>
          <a:prstGeom prst="ellipse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16152" y="441655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447"/>
                </a:solidFill>
              </a:rPr>
              <a:t>0  employee_id NULL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68680" y="4937760"/>
            <a:ext cx="201168" cy="201168"/>
          </a:xfrm>
          <a:prstGeom prst="ellipse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16152" y="491947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447"/>
                </a:solidFill>
              </a:rPr>
              <a:t>0  Dates incohérentes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63640" y="3429000"/>
            <a:ext cx="201168" cy="201168"/>
          </a:xfrm>
          <a:prstGeom prst="ellipse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11112" y="341071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447"/>
                </a:solidFill>
              </a:rPr>
              <a:t>0  Distances négatives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63640" y="3931920"/>
            <a:ext cx="201168" cy="201168"/>
          </a:xfrm>
          <a:prstGeom prst="ellipse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11112" y="391363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447"/>
                </a:solidFill>
              </a:rPr>
              <a:t>0  Doublons benefits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63640" y="4434840"/>
            <a:ext cx="201168" cy="201168"/>
          </a:xfrm>
          <a:prstGeom prst="ellipse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11112" y="441655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3447"/>
                </a:solidFill>
              </a:rPr>
              <a:t>0  employee_id NULL benefits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406640" y="4983480"/>
            <a:ext cx="3749040" cy="594360"/>
          </a:xfrm>
          <a:prstGeom prst="roundRect">
            <a:avLst>
              <a:gd name="adj" fmla="val 12308"/>
            </a:avLst>
          </a:prstGeom>
          <a:solidFill>
            <a:srgbClr val="EEF0FF"/>
          </a:solidFill>
          <a:ln w="12700">
            <a:solidFill>
              <a:srgbClr val="D5D9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0" y="518464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557D5"/>
                </a:solidFill>
              </a:rPr>
              <a:t>Historique → monitoring.data_quality_metrics</a:t>
            </a:r>
            <a:endParaRPr lang="en-US" sz="10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</a:rPr>
              <a:t>9. Restitution Power </a:t>
            </a:r>
            <a:r>
              <a:rPr lang="en-US" sz="2600" b="1" dirty="0" smtClean="0">
                <a:solidFill>
                  <a:srgbClr val="17324D"/>
                </a:solidFill>
              </a:rPr>
              <a:t>BI: </a:t>
            </a:r>
            <a:r>
              <a:rPr lang="en-US" sz="2600" b="1" dirty="0" err="1" smtClean="0">
                <a:solidFill>
                  <a:srgbClr val="17324D"/>
                </a:solidFill>
              </a:rPr>
              <a:t>indicateurs</a:t>
            </a:r>
            <a:r>
              <a:rPr lang="en-US" sz="2600" b="1" dirty="0" smtClean="0">
                <a:solidFill>
                  <a:srgbClr val="17324D"/>
                </a:solidFill>
              </a:rPr>
              <a:t> métier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</a:rPr>
              <a:t>Rendre les résultats exploitables par les décideurs.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73152" cy="1874520"/>
          </a:xfrm>
          <a:prstGeom prst="rect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81912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Coût des avantages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947672"/>
            <a:ext cx="2953512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243447"/>
                </a:solidFill>
              </a:rPr>
              <a:t>Montants potentiels et attribués de la prime sportive pour mesurer l’impact financier.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73152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81912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Journées bien-être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1947672"/>
            <a:ext cx="2953512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fr-FR" sz="1120" dirty="0">
                <a:solidFill>
                  <a:srgbClr val="243447"/>
                </a:solidFill>
              </a:rPr>
              <a:t>Éligibilité et nombre de jours attribués selon les activités réalisées au cours des 12 derniers mois.</a:t>
            </a:r>
            <a:endParaRPr lang="en-US" sz="1120" dirty="0">
              <a:solidFill>
                <a:srgbClr val="243447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83880" y="1417320"/>
            <a:ext cx="33375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417320"/>
            <a:ext cx="73152" cy="187452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581912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Pratiques sportives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1947672"/>
            <a:ext cx="2953512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243447"/>
                </a:solidFill>
              </a:rPr>
              <a:t>Répartition des activités et lecture par salarié / Business Unit.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960120" y="3886200"/>
            <a:ext cx="10287000" cy="1143000"/>
          </a:xfrm>
          <a:prstGeom prst="roundRect">
            <a:avLst>
              <a:gd name="adj" fmla="val 6400"/>
            </a:avLst>
          </a:prstGeom>
          <a:solidFill>
            <a:srgbClr val="EAF0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4224528"/>
            <a:ext cx="9555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Power BI devient la couche de restitution : il ne recalcule pas les règles métier, il visualise les résultats préparés par le pipeline.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114800" y="5303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88A"/>
                </a:solidFill>
              </a:rPr>
              <a:t>Fichier livré : Sport_data.pbix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315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smtClean="0">
                <a:solidFill>
                  <a:srgbClr val="17324D"/>
                </a:solidFill>
              </a:rPr>
              <a:t>10</a:t>
            </a:r>
            <a:r>
              <a:rPr lang="en-US" sz="2600" b="1" dirty="0" smtClean="0">
                <a:solidFill>
                  <a:srgbClr val="17324D"/>
                </a:solidFill>
              </a:rPr>
              <a:t>. Tableau de </a:t>
            </a:r>
            <a:r>
              <a:rPr lang="en-US" sz="2600" b="1" dirty="0" err="1" smtClean="0">
                <a:solidFill>
                  <a:srgbClr val="17324D"/>
                </a:solidFill>
              </a:rPr>
              <a:t>bord</a:t>
            </a:r>
            <a:r>
              <a:rPr lang="en-US" sz="2600" b="1" dirty="0" smtClean="0">
                <a:solidFill>
                  <a:srgbClr val="17324D"/>
                </a:solidFill>
              </a:rPr>
              <a:t> Power </a:t>
            </a:r>
            <a:r>
              <a:rPr lang="en-US" sz="2600" b="1" dirty="0">
                <a:solidFill>
                  <a:srgbClr val="17324D"/>
                </a:solidFill>
              </a:rPr>
              <a:t>BI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89457"/>
            <a:ext cx="9652299" cy="54579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smtClean="0">
                <a:solidFill>
                  <a:srgbClr val="17324D"/>
                </a:solidFill>
              </a:rPr>
              <a:t>11. </a:t>
            </a:r>
            <a:r>
              <a:rPr lang="en-US" sz="2600" b="1" dirty="0">
                <a:solidFill>
                  <a:srgbClr val="17324D"/>
                </a:solidFill>
              </a:rPr>
              <a:t>Notifications Slack et démonstration live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</a:rPr>
              <a:t>Prouver que le flux réagit à une nouvelle activité.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466344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Exemple de notification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2331720"/>
            <a:ext cx="397764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3447"/>
                </a:solidFill>
              </a:rPr>
              <a:t>🏃  Bravo ! Une nouvelle activité sportive vient d’être détectée.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43447"/>
                </a:solidFill>
              </a:rPr>
              <a:t>Distance et durée sont formatées pour produire un message lisible dans Slack.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41605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788A"/>
                </a:solidFill>
              </a:rPr>
              <a:t>Le commentaire peut également enrichir le message.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572768"/>
            <a:ext cx="457200" cy="4572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170992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0" y="16184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Insérer une activité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0" y="2029968"/>
            <a:ext cx="0" cy="438912"/>
          </a:xfrm>
          <a:prstGeom prst="line">
            <a:avLst/>
          </a:prstGeom>
          <a:noFill/>
          <a:ln w="2540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172200" y="2532888"/>
            <a:ext cx="457200" cy="457200"/>
          </a:xfrm>
          <a:prstGeom prst="ellipse">
            <a:avLst/>
          </a:prstGeom>
          <a:solidFill>
            <a:srgbClr val="7557D5"/>
          </a:solidFill>
          <a:ln w="12700">
            <a:solidFill>
              <a:srgbClr val="7557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267004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0" y="25786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Observer Debezium / Redpanda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0" y="2990088"/>
            <a:ext cx="0" cy="438912"/>
          </a:xfrm>
          <a:prstGeom prst="line">
            <a:avLst/>
          </a:prstGeom>
          <a:noFill/>
          <a:ln w="2540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72200" y="349300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363016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35387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Consommer avec PySpark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0" y="3950208"/>
            <a:ext cx="0" cy="438912"/>
          </a:xfrm>
          <a:prstGeom prst="line">
            <a:avLst/>
          </a:prstGeom>
          <a:noFill/>
          <a:ln w="2540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72200" y="4453128"/>
            <a:ext cx="457200" cy="457200"/>
          </a:xfrm>
          <a:prstGeom prst="ellipse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459028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44988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500" b="1" dirty="0">
                <a:solidFill>
                  <a:srgbClr val="17324D"/>
                </a:solidFill>
              </a:rPr>
              <a:t>Vérifier la notification </a:t>
            </a:r>
            <a:r>
              <a:rPr lang="fr-FR" sz="1500" b="1" dirty="0" err="1">
                <a:solidFill>
                  <a:srgbClr val="17324D"/>
                </a:solidFill>
              </a:rPr>
              <a:t>Slack</a:t>
            </a:r>
            <a:r>
              <a:rPr lang="fr-FR" sz="1500" b="1" dirty="0">
                <a:solidFill>
                  <a:srgbClr val="17324D"/>
                </a:solidFill>
              </a:rPr>
              <a:t> + l'écriture Delta</a:t>
            </a:r>
            <a:endParaRPr lang="en-US" sz="1500" b="1" dirty="0">
              <a:solidFill>
                <a:srgbClr val="17324D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29768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smtClean="0">
                <a:solidFill>
                  <a:srgbClr val="17324D"/>
                </a:solidFill>
              </a:rPr>
              <a:t>12. </a:t>
            </a:r>
            <a:r>
              <a:rPr lang="en-US" sz="2600" b="1" dirty="0">
                <a:solidFill>
                  <a:srgbClr val="17324D"/>
                </a:solidFill>
              </a:rPr>
              <a:t>Bilan, limites et évolutions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88A"/>
                </a:solidFill>
              </a:rPr>
              <a:t>Un POC fonctionnel qui valide la faisabilité technique et prépare une industrialisation.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3375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73152" cy="2057400"/>
          </a:xfrm>
          <a:prstGeom prst="rect">
            <a:avLst/>
          </a:prstGeom>
          <a:solidFill>
            <a:srgbClr val="2BAE66"/>
          </a:solidFill>
          <a:ln w="12700">
            <a:solidFill>
              <a:srgbClr val="2BAE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81912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Ce qui est validé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947672"/>
            <a:ext cx="2953512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20" dirty="0">
                <a:solidFill>
                  <a:srgbClr val="243447"/>
                </a:solidFill>
              </a:rPr>
              <a:t>Architecture automatisée</a:t>
            </a:r>
            <a:endParaRPr lang="en-US" sz="1120" dirty="0"/>
          </a:p>
          <a:p>
            <a:r>
              <a:rPr lang="en-US" sz="1120" dirty="0">
                <a:solidFill>
                  <a:srgbClr val="243447"/>
                </a:solidFill>
              </a:rPr>
              <a:t>CDC et streaming opérationnels</a:t>
            </a:r>
            <a:endParaRPr lang="en-US" sz="1120" dirty="0"/>
          </a:p>
          <a:p>
            <a:r>
              <a:rPr lang="en-US" sz="1120" dirty="0">
                <a:solidFill>
                  <a:srgbClr val="243447"/>
                </a:solidFill>
              </a:rPr>
              <a:t>Règles métier calculées</a:t>
            </a:r>
            <a:endParaRPr lang="en-US" sz="1120" dirty="0"/>
          </a:p>
          <a:p>
            <a:r>
              <a:rPr lang="en-US" sz="1120" dirty="0">
                <a:solidFill>
                  <a:srgbClr val="243447"/>
                </a:solidFill>
              </a:rPr>
              <a:t>Monitoring historisé</a:t>
            </a:r>
            <a:endParaRPr lang="en-US" sz="1120" dirty="0"/>
          </a:p>
          <a:p>
            <a:r>
              <a:rPr lang="en-US" sz="1120" dirty="0">
                <a:solidFill>
                  <a:srgbClr val="243447"/>
                </a:solidFill>
              </a:rPr>
              <a:t>Restitution Power BI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3375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41732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81912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Limites du POC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1947672"/>
            <a:ext cx="2953512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20" dirty="0">
                <a:solidFill>
                  <a:srgbClr val="243447"/>
                </a:solidFill>
              </a:rPr>
              <a:t>Données Strava simulées</a:t>
            </a:r>
            <a:endParaRPr lang="en-US" sz="1120" dirty="0"/>
          </a:p>
          <a:p>
            <a:r>
              <a:rPr lang="en-US" sz="1120" dirty="0">
                <a:solidFill>
                  <a:srgbClr val="243447"/>
                </a:solidFill>
              </a:rPr>
              <a:t>Exécution locale Docker</a:t>
            </a:r>
            <a:endParaRPr lang="en-US" sz="1120" dirty="0"/>
          </a:p>
          <a:p>
            <a:r>
              <a:rPr lang="en-US" sz="1120" dirty="0">
                <a:solidFill>
                  <a:srgbClr val="243447"/>
                </a:solidFill>
              </a:rPr>
              <a:t>Règles encore paramétrées dans le code</a:t>
            </a:r>
            <a:endParaRPr lang="en-US" sz="1120" dirty="0"/>
          </a:p>
          <a:p>
            <a:r>
              <a:rPr lang="en-US" sz="1120" dirty="0">
                <a:solidFill>
                  <a:srgbClr val="243447"/>
                </a:solidFill>
              </a:rPr>
              <a:t>POC non dimensionné production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8183880" y="1417320"/>
            <a:ext cx="33375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417320"/>
            <a:ext cx="73152" cy="205740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581912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Évolutions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1947672"/>
            <a:ext cx="2953512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120" dirty="0">
                <a:solidFill>
                  <a:srgbClr val="243447"/>
                </a:solidFill>
              </a:rPr>
              <a:t>Connexion directe Strava</a:t>
            </a:r>
            <a:endParaRPr lang="en-US" sz="1120" dirty="0"/>
          </a:p>
          <a:p>
            <a:r>
              <a:rPr lang="en-US" sz="1120" dirty="0">
                <a:solidFill>
                  <a:srgbClr val="243447"/>
                </a:solidFill>
              </a:rPr>
              <a:t>Paramétrage externalisé</a:t>
            </a:r>
            <a:endParaRPr lang="en-US" sz="1120" dirty="0"/>
          </a:p>
          <a:p>
            <a:r>
              <a:rPr lang="en-US" sz="1120" dirty="0">
                <a:solidFill>
                  <a:srgbClr val="243447"/>
                </a:solidFill>
              </a:rPr>
              <a:t>Orchestration / alerting renforcés</a:t>
            </a:r>
            <a:endParaRPr lang="en-US" sz="1120" dirty="0"/>
          </a:p>
          <a:p>
            <a:r>
              <a:rPr lang="en-US" sz="1120" dirty="0">
                <a:solidFill>
                  <a:srgbClr val="243447"/>
                </a:solidFill>
              </a:rPr>
              <a:t>Déploiement cloud et sécurité renforcée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914400" y="4160520"/>
            <a:ext cx="10332720" cy="960120"/>
          </a:xfrm>
          <a:prstGeom prst="roundRect">
            <a:avLst>
              <a:gd name="adj" fmla="val 7619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445312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Résultat : un pipeline cohérent, observable et démontrable, aligné avec les besoins du POC Avantages Sportifs.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66160" y="5440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6BFF"/>
                </a:solidFill>
              </a:rPr>
              <a:t>Merci — Questions / Démonstration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1900" y="6473825"/>
            <a:ext cx="800100" cy="3000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3519</TotalTime>
  <Words>927</Words>
  <Application>Microsoft Office PowerPoint</Application>
  <PresentationFormat>Grand écran</PresentationFormat>
  <Paragraphs>216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OpenClassrooms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 Data Solution — Création et automatisation d’une architecture de données</dc:title>
  <dc:subject>Projet 12 - Sport Data Solution</dc:subject>
  <dc:creator>Fatou THIAM</dc:creator>
  <cp:lastModifiedBy>Fatima THIAM GUEYE</cp:lastModifiedBy>
  <cp:revision>20</cp:revision>
  <dcterms:created xsi:type="dcterms:W3CDTF">2026-09-30T23:38:53Z</dcterms:created>
  <dcterms:modified xsi:type="dcterms:W3CDTF">2026-10-03T10:19:42Z</dcterms:modified>
</cp:coreProperties>
</file>