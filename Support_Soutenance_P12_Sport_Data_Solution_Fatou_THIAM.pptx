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6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01" autoAdjust="0"/>
  </p:normalViewPr>
  <p:slideViewPr>
    <p:cSldViewPr snapToGrid="0" snapToObjects="1">
      <p:cViewPr varScale="1">
        <p:scale>
          <a:sx n="107" d="100"/>
          <a:sy n="107" d="100"/>
        </p:scale>
        <p:origin x="629" y="86"/>
      </p:cViewPr>
      <p:guideLst/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486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6140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180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SPORT DATA SOLUTION  •  PROJET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149840" y="651052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180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Fatou THIAM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9728"/>
            <a:ext cx="12191695" cy="64008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26680" y="1005840"/>
            <a:ext cx="3749040" cy="4480560"/>
          </a:xfrm>
          <a:prstGeom prst="roundRect">
            <a:avLst>
              <a:gd name="adj" fmla="val 2927"/>
            </a:avLst>
          </a:prstGeom>
          <a:solidFill>
            <a:srgbClr val="EAF0FF"/>
          </a:solidFill>
          <a:ln w="12700">
            <a:solidFill>
              <a:srgbClr val="D7E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160" y="141732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F6BFF"/>
                </a:solidFill>
              </a:rPr>
              <a:t>SPORT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2F6BFF"/>
                </a:solidFill>
              </a:rPr>
              <a:t>DATA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2F6BFF"/>
                </a:solidFill>
              </a:rPr>
              <a:t>SOLUTION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324D"/>
                </a:solidFill>
              </a:rPr>
              <a:t>Création et automatisation</a:t>
            </a:r>
            <a:endParaRPr lang="en-US" sz="2900" dirty="0"/>
          </a:p>
          <a:p>
            <a:pPr marL="0" indent="0">
              <a:buNone/>
            </a:pPr>
            <a:r>
              <a:rPr lang="en-US" sz="2900" b="1" dirty="0">
                <a:solidFill>
                  <a:srgbClr val="17324D"/>
                </a:solidFill>
              </a:rPr>
              <a:t>d’une architecture de données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713232" y="28163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88A"/>
                </a:solidFill>
              </a:rPr>
              <a:t>Pipeline de données sportives • traitement temps réel • qualité • Power BI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7033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377190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POSTGRESQL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176272" y="37033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7557D5"/>
          </a:solidFill>
          <a:ln w="12700">
            <a:solidFill>
              <a:srgbClr val="7557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9424" y="3771900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DEBEZIUM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47872" y="37033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85D75"/>
          </a:solidFill>
          <a:ln w="12700">
            <a:solidFill>
              <a:srgbClr val="E85D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21024" y="3771900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REDPANDA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19472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92624" y="3771900"/>
            <a:ext cx="905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PYSPARK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08192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29B6C8"/>
          </a:solidFill>
          <a:ln w="12700">
            <a:solidFill>
              <a:srgbClr val="29B6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1344" y="3771900"/>
            <a:ext cx="905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DELTA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13232" y="4919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24D"/>
                </a:solidFill>
              </a:rPr>
              <a:t>Fatou THIAM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3232" y="5303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88A"/>
                </a:solidFill>
              </a:rPr>
              <a:t>Parcours Data Engineer — OpenClassrooms • Projet 12 • 2026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24D"/>
                </a:solidFill>
              </a:rPr>
              <a:t>1. Contexte et besoin métier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88A"/>
                </a:solidFill>
              </a:rPr>
              <a:t>Un POC pour mesurer l’activité physique et calculer l’impact des avantages sportifs.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73152" cy="182880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</a:rPr>
              <a:t>Objectifs du POC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47672"/>
            <a:ext cx="3044952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r>
              <a:rPr lang="en-US" sz="1120" dirty="0">
                <a:solidFill>
                  <a:srgbClr val="243447"/>
                </a:solidFill>
              </a:rPr>
              <a:t>Tester la faisabilité technique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Déterminer les données à collecter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Calculer l’impact financier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4370832" y="14173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70832" y="1417320"/>
            <a:ext cx="73152" cy="1828800"/>
          </a:xfrm>
          <a:prstGeom prst="rect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58191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</a:rPr>
              <a:t>Prime sportive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1947672"/>
            <a:ext cx="3044952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r>
              <a:rPr lang="fr-FR" sz="1120" dirty="0">
                <a:solidFill>
                  <a:srgbClr val="243447"/>
                </a:solidFill>
              </a:rPr>
              <a:t>5 % du salaire annuel brut pour les salariés dont le trajet domicile–travail sportif est validé selon les critères définis.</a:t>
            </a:r>
            <a:endParaRPr lang="en-US" sz="1120" dirty="0">
              <a:solidFill>
                <a:srgbClr val="243447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01584" y="14173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01584" y="1417320"/>
            <a:ext cx="73152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58191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</a:rPr>
              <a:t>Journées bien-être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30184" y="1947672"/>
            <a:ext cx="3044952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r>
              <a:rPr lang="fr-FR" sz="1120" dirty="0">
                <a:solidFill>
                  <a:srgbClr val="243447"/>
                </a:solidFill>
              </a:rPr>
              <a:t>5 journées pour les salariés ayant réalisé au moins 15 activités physiques au cours des 12 derniers mois.</a:t>
            </a:r>
            <a:endParaRPr lang="en-US" sz="1120" dirty="0">
              <a:solidFill>
                <a:srgbClr val="243447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24D"/>
                </a:solidFill>
              </a:rPr>
              <a:t>Le besoin central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224528"/>
            <a:ext cx="1069848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3447"/>
                </a:solidFill>
              </a:rPr>
              <a:t>Construire une architecture fiable, automatisée et observable, capable de transformer des données RH et sportives en avantages salariés mesurables.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017520" y="523036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6788A"/>
                </a:solidFill>
              </a:rPr>
              <a:t>Les paramètres métier sont conçus pour pouvoir évoluer.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24D"/>
                </a:solidFill>
              </a:rPr>
              <a:t>2. Données sources et audit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94360" y="85496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88A"/>
                </a:solidFill>
              </a:rPr>
              <a:t>Point de départ : fiabiliser les données RH avant d’automatiser les traitements.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85800" y="1527182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453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F6BFF"/>
                </a:solidFill>
              </a:rPr>
              <a:t>161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5528" y="1956816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salariés</a:t>
            </a:r>
            <a:endParaRPr lang="en-US" sz="980" dirty="0"/>
          </a:p>
        </p:txBody>
      </p:sp>
      <p:sp>
        <p:nvSpPr>
          <p:cNvPr id="7" name="Shape 5"/>
          <p:cNvSpPr/>
          <p:nvPr/>
        </p:nvSpPr>
        <p:spPr>
          <a:xfrm>
            <a:off x="2898648" y="1527182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63240" y="15453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557D5"/>
                </a:solidFill>
              </a:rPr>
              <a:t>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035808" y="1956816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Business Units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193792" y="1527989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0" y="15453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BAE66"/>
                </a:solidFill>
              </a:rPr>
              <a:t>68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276088" y="1956816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trajets sportifs contrôlés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7379208" y="1525299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15453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</a:rPr>
              <a:t>2 </a:t>
            </a:r>
            <a:r>
              <a:rPr lang="en-US" sz="2200" b="1" dirty="0" smtClean="0">
                <a:solidFill>
                  <a:srgbClr val="F59E0B"/>
                </a:solidFill>
              </a:rPr>
              <a:t>535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516368" y="1956816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activités sportives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9592056" y="1533098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15453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 smtClean="0">
                <a:solidFill>
                  <a:srgbClr val="29B6C8"/>
                </a:solidFill>
              </a:rPr>
              <a:t>2550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756648" y="1956816"/>
            <a:ext cx="1655064" cy="30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980" dirty="0">
                <a:solidFill>
                  <a:srgbClr val="66788A"/>
                </a:solidFill>
              </a:rPr>
              <a:t>activités après tests du pipeline</a:t>
            </a:r>
            <a:endParaRPr lang="en-US" sz="980" dirty="0">
              <a:solidFill>
                <a:srgbClr val="66788A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9172" y="2819041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5921" y="2788920"/>
            <a:ext cx="73152" cy="201168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2953512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</a:rPr>
              <a:t>Données RH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319272"/>
            <a:ext cx="299923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r>
              <a:rPr lang="en-US" sz="1120" dirty="0">
                <a:solidFill>
                  <a:srgbClr val="243447"/>
                </a:solidFill>
              </a:rPr>
              <a:t>Identifiant salarié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Salaire brut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Business Unit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Adresse domicile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Mode de déplacement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4389120" y="2819041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07408" y="2788920"/>
            <a:ext cx="73152" cy="2011680"/>
          </a:xfrm>
          <a:prstGeom prst="rect">
            <a:avLst/>
          </a:prstGeom>
          <a:solidFill>
            <a:srgbClr val="7557D5"/>
          </a:solidFill>
          <a:ln w="12700">
            <a:solidFill>
              <a:srgbClr val="7557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36008" y="2953512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</a:rPr>
              <a:t>Profil sportif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36008" y="3319272"/>
            <a:ext cx="299923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r>
              <a:rPr lang="en-US" sz="1120" dirty="0">
                <a:solidFill>
                  <a:srgbClr val="243447"/>
                </a:solidFill>
              </a:rPr>
              <a:t>Pratique sportive déclarée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Cohérence des valeurs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Population utile pour la simulation</a:t>
            </a:r>
            <a:endParaRPr lang="en-US" sz="1120" dirty="0"/>
          </a:p>
        </p:txBody>
      </p:sp>
      <p:sp>
        <p:nvSpPr>
          <p:cNvPr id="27" name="Shape 25"/>
          <p:cNvSpPr/>
          <p:nvPr/>
        </p:nvSpPr>
        <p:spPr>
          <a:xfrm>
            <a:off x="8129016" y="2788920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29016" y="2788920"/>
            <a:ext cx="73152" cy="2011680"/>
          </a:xfrm>
          <a:prstGeom prst="rect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57616" y="2953512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</a:rPr>
              <a:t>Contrôles initiaux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57616" y="3319272"/>
            <a:ext cx="2999232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r>
              <a:rPr lang="en-US" sz="1120" dirty="0">
                <a:solidFill>
                  <a:srgbClr val="243447"/>
                </a:solidFill>
              </a:rPr>
              <a:t>Valeurs manquantes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Doublons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Types et formats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Cohérence métier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1188720" y="525780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Résultat : une base propre pour alimenter les étapes Google Maps, simulation Strava et pipeline.</a:t>
            </a:r>
            <a:endParaRPr lang="en-US" sz="1500" dirty="0"/>
          </a:p>
        </p:txBody>
      </p:sp>
      <p:sp>
        <p:nvSpPr>
          <p:cNvPr id="33" name="ZoneTexte 32"/>
          <p:cNvSpPr txBox="1"/>
          <p:nvPr/>
        </p:nvSpPr>
        <p:spPr>
          <a:xfrm>
            <a:off x="2073225" y="1037951"/>
            <a:ext cx="1675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>
                <a:solidFill>
                  <a:srgbClr val="17324D"/>
                </a:solidFill>
              </a:rPr>
              <a:t>Données sources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6817013" y="1009562"/>
            <a:ext cx="27703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>
                <a:solidFill>
                  <a:srgbClr val="17324D"/>
                </a:solidFill>
              </a:rPr>
              <a:t>Données produites par le POC</a:t>
            </a:r>
          </a:p>
        </p:txBody>
      </p:sp>
      <p:cxnSp>
        <p:nvCxnSpPr>
          <p:cNvPr id="36" name="Connecteur en angle 35"/>
          <p:cNvCxnSpPr/>
          <p:nvPr/>
        </p:nvCxnSpPr>
        <p:spPr>
          <a:xfrm rot="5400000">
            <a:off x="7096046" y="444962"/>
            <a:ext cx="227997" cy="1984248"/>
          </a:xfrm>
          <a:prstGeom prst="bent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en angle 37"/>
          <p:cNvCxnSpPr/>
          <p:nvPr/>
        </p:nvCxnSpPr>
        <p:spPr>
          <a:xfrm rot="16200000" flipH="1">
            <a:off x="9257864" y="274486"/>
            <a:ext cx="215759" cy="2327148"/>
          </a:xfrm>
          <a:prstGeom prst="bent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en angle 45"/>
          <p:cNvCxnSpPr/>
          <p:nvPr/>
        </p:nvCxnSpPr>
        <p:spPr>
          <a:xfrm rot="16200000" flipH="1">
            <a:off x="8218675" y="1312767"/>
            <a:ext cx="207960" cy="228600"/>
          </a:xfrm>
          <a:prstGeom prst="bent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en angle 49"/>
          <p:cNvCxnSpPr>
            <a:stCxn id="33" idx="2"/>
            <a:endCxn id="4" idx="0"/>
          </p:cNvCxnSpPr>
          <p:nvPr/>
        </p:nvCxnSpPr>
        <p:spPr>
          <a:xfrm rot="5400000">
            <a:off x="2233431" y="849658"/>
            <a:ext cx="181454" cy="1173595"/>
          </a:xfrm>
          <a:prstGeom prst="bent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en angle 51"/>
          <p:cNvCxnSpPr>
            <a:stCxn id="33" idx="2"/>
            <a:endCxn id="7" idx="0"/>
          </p:cNvCxnSpPr>
          <p:nvPr/>
        </p:nvCxnSpPr>
        <p:spPr>
          <a:xfrm rot="16200000" flipH="1">
            <a:off x="3339854" y="916828"/>
            <a:ext cx="181454" cy="1039253"/>
          </a:xfrm>
          <a:prstGeom prst="bent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2E6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7498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F56"/>
                </a:solidFill>
                <a:latin typeface="Aptos Display"/>
              </a:defRPr>
            </a:pPr>
            <a:r>
              <a:t>3. Architecture globale de 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024128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4E6080"/>
                </a:solidFill>
                <a:latin typeface="Aptos"/>
              </a:defRPr>
            </a:pPr>
            <a:r>
              <a:t>Une architecture événementielle automatisée : une nouvelle activité déclenche les traitements temps réel et analytiques.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36592" y="1481328"/>
            <a:ext cx="2395728" cy="484632"/>
          </a:xfrm>
          <a:prstGeom prst="roundRect">
            <a:avLst/>
          </a:prstGeom>
          <a:solidFill>
            <a:srgbClr val="102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PostgreSQL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36592" y="2121408"/>
            <a:ext cx="2395728" cy="484632"/>
          </a:xfrm>
          <a:prstGeom prst="roundRect">
            <a:avLst/>
          </a:prstGeom>
          <a:solidFill>
            <a:srgbClr val="6D3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Debezium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761488"/>
            <a:ext cx="2395728" cy="484632"/>
          </a:xfrm>
          <a:prstGeom prst="roundRect">
            <a:avLst/>
          </a:prstGeom>
          <a:solidFill>
            <a:srgbClr val="EF3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Redpanda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34456" y="1965960"/>
            <a:ext cx="0" cy="155448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34456" y="2606040"/>
            <a:ext cx="0" cy="155448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8920" y="3657600"/>
            <a:ext cx="2286000" cy="502920"/>
          </a:xfrm>
          <a:prstGeom prst="roundRect">
            <a:avLst/>
          </a:prstGeom>
          <a:solidFill>
            <a:srgbClr val="FA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Consumer Python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4389120"/>
            <a:ext cx="2286000" cy="502920"/>
          </a:xfrm>
          <a:prstGeom prst="roundRect">
            <a:avLst/>
          </a:prstGeom>
          <a:solidFill>
            <a:srgbClr val="E2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4181F"/>
                </a:solidFill>
                <a:latin typeface="Aptos"/>
              </a:defRPr>
            </a:pPr>
            <a:r>
              <a:t>Slack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3456432"/>
            <a:ext cx="2286000" cy="438912"/>
          </a:xfrm>
          <a:prstGeom prst="roundRect">
            <a:avLst/>
          </a:prstGeom>
          <a:solidFill>
            <a:srgbClr val="14B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ptos"/>
              </a:defRPr>
            </a:pPr>
            <a:r>
              <a:t>Spark Streaming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4005072"/>
            <a:ext cx="2286000" cy="438912"/>
          </a:xfrm>
          <a:prstGeom prst="roundRect">
            <a:avLst/>
          </a:prstGeom>
          <a:solidFill>
            <a:srgbClr val="257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ptos"/>
              </a:defRPr>
            </a:pPr>
            <a:r>
              <a:t>Delta Lake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4553712"/>
            <a:ext cx="2286000" cy="438912"/>
          </a:xfrm>
          <a:prstGeom prst="roundRect">
            <a:avLst/>
          </a:prstGeom>
          <a:solidFill>
            <a:srgbClr val="6D3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ptos"/>
              </a:defRPr>
            </a:pPr>
            <a:r>
              <a:t>Worker automatique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5102352"/>
            <a:ext cx="2286000" cy="438912"/>
          </a:xfrm>
          <a:prstGeom prst="roundRect">
            <a:avLst/>
          </a:prstGeom>
          <a:solidFill>
            <a:srgbClr val="29A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ptos"/>
              </a:defRPr>
            </a:pPr>
            <a:r>
              <a:t>employee_benefits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5650992"/>
            <a:ext cx="2286000" cy="384048"/>
          </a:xfrm>
          <a:prstGeom prst="roundRect">
            <a:avLst/>
          </a:prstGeom>
          <a:solidFill>
            <a:srgbClr val="FAC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4181F"/>
                </a:solidFill>
                <a:latin typeface="Aptos"/>
              </a:defRPr>
            </a:pPr>
            <a:r>
              <a:t>CSV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5650992"/>
            <a:ext cx="2057400" cy="384048"/>
          </a:xfrm>
          <a:prstGeom prst="roundRect">
            <a:avLst/>
          </a:prstGeom>
          <a:solidFill>
            <a:srgbClr val="E2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4181F"/>
                </a:solidFill>
                <a:latin typeface="Aptos"/>
              </a:defRPr>
            </a:pPr>
            <a:r>
              <a:t>Power BI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31920" y="3383280"/>
            <a:ext cx="4023359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34456" y="3246120"/>
            <a:ext cx="0" cy="137160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31920" y="3383280"/>
            <a:ext cx="0" cy="274320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55279" y="3383280"/>
            <a:ext cx="0" cy="73152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931920" y="4160520"/>
            <a:ext cx="0" cy="228600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55279" y="3895344"/>
            <a:ext cx="0" cy="109728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955279" y="4443984"/>
            <a:ext cx="0" cy="109728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955279" y="4992624"/>
            <a:ext cx="0" cy="109728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955279" y="5541264"/>
            <a:ext cx="0" cy="109728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98280" y="5843016"/>
            <a:ext cx="228600" cy="0"/>
          </a:xfrm>
          <a:prstGeom prst="line">
            <a:avLst/>
          </a:prstGeom>
          <a:ln w="2032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7480" y="3227832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4E6080"/>
                </a:solidFill>
                <a:latin typeface="Aptos"/>
              </a:defRPr>
            </a:pPr>
            <a:r>
              <a:t>Temps réel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3227832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4E6080"/>
                </a:solidFill>
                <a:latin typeface="Aptos"/>
              </a:defRPr>
            </a:pPr>
            <a:r>
              <a:t>Analytique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24D"/>
                </a:solidFill>
              </a:rPr>
              <a:t>4. Validation des trajets domicile–travail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88A"/>
                </a:solidFill>
              </a:rPr>
              <a:t>Contrôler automatiquement les déclarations sportives avec Google Maps.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32004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17320"/>
            <a:ext cx="73152" cy="1828800"/>
          </a:xfrm>
          <a:prstGeom prst="rect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8191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</a:rPr>
              <a:t>Marche / Running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947672"/>
            <a:ext cx="2816352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r>
              <a:rPr lang="en-US" sz="1120" dirty="0">
                <a:solidFill>
                  <a:srgbClr val="243447"/>
                </a:solidFill>
              </a:rPr>
              <a:t>Mode Google : WALK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Distance maximale : 15 km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4160520" y="1417320"/>
            <a:ext cx="32004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0520" y="1417320"/>
            <a:ext cx="73152" cy="1828800"/>
          </a:xfrm>
          <a:prstGeom prst="rect">
            <a:avLst/>
          </a:prstGeom>
          <a:solidFill>
            <a:srgbClr val="29B6C8"/>
          </a:solidFill>
          <a:ln w="12700">
            <a:solidFill>
              <a:srgbClr val="29B6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58191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</a:rPr>
              <a:t>Vélo / Trottinette / Autres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0" y="1947672"/>
            <a:ext cx="2816352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r>
              <a:rPr lang="en-US" sz="1120" dirty="0">
                <a:solidFill>
                  <a:srgbClr val="243447"/>
                </a:solidFill>
              </a:rPr>
              <a:t>Mode Google : BICYCLE</a:t>
            </a:r>
            <a:endParaRPr lang="en-US" sz="1120" dirty="0"/>
          </a:p>
          <a:p>
            <a:r>
              <a:rPr lang="en-US" sz="1120" dirty="0">
                <a:solidFill>
                  <a:srgbClr val="243447"/>
                </a:solidFill>
              </a:rPr>
              <a:t>Distance maximale : 25 km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7635240" y="1417320"/>
            <a:ext cx="3794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1417320"/>
            <a:ext cx="73152" cy="182880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158191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</a:rPr>
              <a:t>Principe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863840" y="1947672"/>
            <a:ext cx="3410712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20" dirty="0">
                <a:solidFill>
                  <a:srgbClr val="243447"/>
                </a:solidFill>
              </a:rPr>
              <a:t>Adresse domicile → API Google Maps → distance → comparaison au seuil → résultat stocké dans commute_validation.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1965960" y="397764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4105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F6BFF"/>
                </a:solidFill>
              </a:rPr>
              <a:t>68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075688" y="4517136"/>
            <a:ext cx="19751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salariés contrôlés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983480" y="397764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4105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BAE66"/>
                </a:solidFill>
              </a:rPr>
              <a:t>68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093208" y="4517136"/>
            <a:ext cx="19751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trajets valides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001000" y="397764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4105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</a:rPr>
              <a:t>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110728" y="4517136"/>
            <a:ext cx="19751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anomalie détectée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2103120" y="530352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324D"/>
                </a:solidFill>
              </a:rPr>
              <a:t>Une déclaration incohérente peut ainsi être remontée automatiquement.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24D"/>
                </a:solidFill>
              </a:rPr>
              <a:t>5. Simulation des données sportives type Strava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88A"/>
                </a:solidFill>
              </a:rPr>
              <a:t>Créer un historique réaliste avant une future connexion directe à Strava.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502920" cy="50292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55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25880" y="1545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24D"/>
                </a:solidFill>
              </a:rPr>
              <a:t>Sélection des salariés sportifs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26080" y="1764792"/>
            <a:ext cx="365760" cy="0"/>
          </a:xfrm>
          <a:prstGeom prst="line">
            <a:avLst/>
          </a:prstGeom>
          <a:noFill/>
          <a:ln w="25400">
            <a:solidFill>
              <a:srgbClr val="AAB7C4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37560" y="1508760"/>
            <a:ext cx="502920" cy="502920"/>
          </a:xfrm>
          <a:prstGeom prst="ellipse">
            <a:avLst/>
          </a:prstGeom>
          <a:solidFill>
            <a:srgbClr val="7557D5"/>
          </a:solidFill>
          <a:ln w="12700">
            <a:solidFill>
              <a:srgbClr val="7557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655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77640" y="1545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24D"/>
                </a:solidFill>
              </a:rPr>
              <a:t>Génération sur 365 jours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577840" y="1764792"/>
            <a:ext cx="365760" cy="0"/>
          </a:xfrm>
          <a:prstGeom prst="line">
            <a:avLst/>
          </a:prstGeom>
          <a:noFill/>
          <a:ln w="25400">
            <a:solidFill>
              <a:srgbClr val="AAB7C4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989320" y="150876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1655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29400" y="1545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24D"/>
                </a:solidFill>
              </a:rPr>
              <a:t>Règles par type de sport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1764792"/>
            <a:ext cx="365760" cy="0"/>
          </a:xfrm>
          <a:prstGeom prst="line">
            <a:avLst/>
          </a:prstGeom>
          <a:noFill/>
          <a:ln w="25400">
            <a:solidFill>
              <a:srgbClr val="AAB7C4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641080" y="1508760"/>
            <a:ext cx="502920" cy="502920"/>
          </a:xfrm>
          <a:prstGeom prst="ellipse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41080" y="1655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81160" y="1545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24D"/>
                </a:solidFill>
              </a:rPr>
              <a:t>Contrôles de cohérence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51560" y="28803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3008376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</a:rPr>
              <a:t>2 </a:t>
            </a:r>
            <a:r>
              <a:rPr lang="en-US" sz="2200" b="1" dirty="0" smtClean="0">
                <a:solidFill>
                  <a:srgbClr val="F59E0B"/>
                </a:solidFill>
              </a:rPr>
              <a:t>535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161288" y="3419856"/>
            <a:ext cx="2112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activités générées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3703320" y="28803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0" y="3008376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557D5"/>
                </a:solidFill>
              </a:rPr>
              <a:t>12 mois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813048" y="3419856"/>
            <a:ext cx="2112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d’historique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355080" y="28803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3008376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F6BFF"/>
                </a:solidFill>
              </a:rPr>
              <a:t>7 champs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64808" y="3419856"/>
            <a:ext cx="2112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métadonnées principales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9006840" y="28803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0" y="300837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BAE66"/>
                </a:solidFill>
              </a:rPr>
              <a:t>PostgreSQL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116568" y="3419856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788A"/>
                </a:solidFill>
              </a:rPr>
              <a:t>stockage principal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1051560" y="4343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447"/>
                </a:solidFill>
              </a:rPr>
              <a:t>ID • ID salarié • date de début • type • distance • date de fin • commentaire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011680" y="49377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6788A"/>
                </a:solidFill>
              </a:rPr>
              <a:t>La distance reste vide lorsque l’activité ne s’y prête pas (ex. escalade).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2E6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2F56"/>
                </a:solidFill>
                <a:latin typeface="Aptos Display"/>
              </a:defRPr>
            </a:pPr>
            <a:r>
              <a:t>6. Pipeline automatisé : CDC → streaming →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987552"/>
            <a:ext cx="109728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E6080"/>
                </a:solidFill>
                <a:latin typeface="Aptos"/>
              </a:defRPr>
            </a:pPr>
            <a:r>
              <a:t>Détecter et traiter une nouvelle activité sans relancer manuellement la chaîne.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691640" cy="1143000"/>
          </a:xfrm>
          <a:prstGeom prst="roundRect">
            <a:avLst/>
          </a:prstGeom>
          <a:solidFill>
            <a:srgbClr val="102F56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ptos"/>
              </a:defRPr>
            </a:pPr>
            <a:r>
              <a:t>PostgreSQL</a:t>
            </a:r>
          </a:p>
          <a:p>
            <a:pPr algn="ctr">
              <a:defRPr sz="950">
                <a:solidFill>
                  <a:srgbClr val="FFFFFF"/>
                </a:solidFill>
                <a:latin typeface="Aptos"/>
              </a:defRPr>
            </a:pPr>
            <a:r>
              <a:t>Nouvelle activité</a:t>
            </a:r>
            <a:br/>
            <a:r>
              <a:t>INSERT / UPDATE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2450592"/>
            <a:ext cx="594360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71800" y="1874519"/>
            <a:ext cx="1691640" cy="1143000"/>
          </a:xfrm>
          <a:prstGeom prst="roundRect">
            <a:avLst/>
          </a:prstGeom>
          <a:solidFill>
            <a:srgbClr val="6D3FE2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ptos"/>
              </a:defRPr>
            </a:pPr>
            <a:r>
              <a:t>Debezium</a:t>
            </a:r>
          </a:p>
          <a:p>
            <a:pPr algn="ctr">
              <a:defRPr sz="950">
                <a:solidFill>
                  <a:srgbClr val="FFFFFF"/>
                </a:solidFill>
                <a:latin typeface="Aptos"/>
              </a:defRPr>
            </a:pPr>
            <a:r>
              <a:t>Capture CDC automatique</a:t>
            </a:r>
            <a:br/>
            <a:r>
              <a:t>Détection des changements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63440" y="2450592"/>
            <a:ext cx="594360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57800" y="1874519"/>
            <a:ext cx="1691640" cy="1143000"/>
          </a:xfrm>
          <a:prstGeom prst="roundRect">
            <a:avLst/>
          </a:prstGeom>
          <a:solidFill>
            <a:srgbClr val="EF305D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ptos"/>
              </a:defRPr>
            </a:pPr>
            <a:r>
              <a:t>Redpanda</a:t>
            </a:r>
          </a:p>
          <a:p>
            <a:pPr algn="ctr">
              <a:defRPr sz="950">
                <a:solidFill>
                  <a:srgbClr val="FFFFFF"/>
                </a:solidFill>
                <a:latin typeface="Aptos"/>
              </a:defRPr>
            </a:pPr>
            <a:r>
              <a:t>Diffusion de l’événement</a:t>
            </a:r>
            <a:br/>
            <a:r>
              <a:t>Topic activités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0" y="2450592"/>
            <a:ext cx="594360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43800" y="1874519"/>
            <a:ext cx="1691640" cy="1143000"/>
          </a:xfrm>
          <a:prstGeom prst="roundRect">
            <a:avLst/>
          </a:prstGeom>
          <a:solidFill>
            <a:srgbClr val="14B1C3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ptos"/>
              </a:defRPr>
            </a:pPr>
            <a:r>
              <a:t>Spark Streaming</a:t>
            </a:r>
          </a:p>
          <a:p>
            <a:pPr algn="ctr">
              <a:defRPr sz="950">
                <a:solidFill>
                  <a:srgbClr val="FFFFFF"/>
                </a:solidFill>
                <a:latin typeface="Aptos"/>
              </a:defRPr>
            </a:pPr>
            <a:r>
              <a:t>Traitement continu</a:t>
            </a:r>
            <a:br/>
            <a:r>
              <a:t>Validation + transformation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40" y="2450592"/>
            <a:ext cx="594360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29800" y="1874519"/>
            <a:ext cx="1691640" cy="1143000"/>
          </a:xfrm>
          <a:prstGeom prst="roundRect">
            <a:avLst/>
          </a:prstGeom>
          <a:solidFill>
            <a:srgbClr val="2575F0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ptos"/>
              </a:defRPr>
            </a:pPr>
            <a:r>
              <a:t>Delta Lake</a:t>
            </a:r>
          </a:p>
          <a:p>
            <a:pPr algn="ctr">
              <a:defRPr sz="950">
                <a:solidFill>
                  <a:srgbClr val="FFFFFF"/>
                </a:solidFill>
                <a:latin typeface="Aptos"/>
              </a:defRPr>
            </a:pPr>
            <a:r>
              <a:t>Stockage analytique</a:t>
            </a:r>
            <a:br/>
            <a:r>
              <a:t>Historique des activités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1800" y="3703320"/>
            <a:ext cx="6263640" cy="960120"/>
          </a:xfrm>
          <a:prstGeom prst="roundRect">
            <a:avLst/>
          </a:prstGeom>
          <a:solidFill>
            <a:srgbClr val="E2EBFC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DÉMO LIVE</a:t>
            </a:r>
          </a:p>
          <a:p>
            <a:pPr algn="ctr">
              <a:defRPr sz="1200">
                <a:solidFill>
                  <a:srgbClr val="102F56"/>
                </a:solidFill>
                <a:latin typeface="Aptos"/>
              </a:defRPr>
            </a:pPr>
            <a:r>
              <a:t>1 INSERT PostgreSQL → propagation automatique jusqu’à Delta Lake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989320"/>
            <a:ext cx="10652760" cy="438912"/>
          </a:xfrm>
          <a:prstGeom prst="roundRect">
            <a:avLst/>
          </a:prstGeom>
          <a:solidFill>
            <a:srgbClr val="E2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02F56"/>
                </a:solidFill>
                <a:latin typeface="Aptos"/>
              </a:defRPr>
            </a:pPr>
            <a:r>
              <a:t>Aucun script Spark n’est lancé manuellement après l’arrivée de l’activité.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24D"/>
                </a:solidFill>
              </a:rPr>
              <a:t>7. Calcul des avantages salariés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88A"/>
                </a:solidFill>
              </a:rPr>
              <a:t>Transformer les données sportives en règles métier lisibles et auditables.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463040"/>
            <a:ext cx="4937760" cy="3566160"/>
          </a:xfrm>
          <a:prstGeom prst="roundRect">
            <a:avLst>
              <a:gd name="adj" fmla="val 2564"/>
            </a:avLst>
          </a:prstGeom>
          <a:solidFill>
            <a:srgbClr val="ECF8F1"/>
          </a:solidFill>
          <a:ln w="12700">
            <a:solidFill>
              <a:srgbClr val="C6EA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1874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BAE66"/>
                </a:solidFill>
              </a:rPr>
              <a:t>PRIME SPORTIVE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2606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</a:rPr>
              <a:t>Trajet sportif validé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063240" y="29718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BAE66"/>
                </a:solidFill>
              </a:rPr>
              <a:t>↓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88720" y="34564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BAE66"/>
                </a:solidFill>
              </a:rPr>
              <a:t>5 % du salaire annuel brut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25880" y="4160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788A"/>
                </a:solidFill>
              </a:rPr>
              <a:t>Montant potentiel distingué du montant réellement attribué.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1463040"/>
            <a:ext cx="4937760" cy="3566160"/>
          </a:xfrm>
          <a:prstGeom prst="roundRect">
            <a:avLst>
              <a:gd name="adj" fmla="val 2564"/>
            </a:avLst>
          </a:prstGeom>
          <a:solidFill>
            <a:srgbClr val="FFF5E6"/>
          </a:solidFill>
          <a:ln w="12700">
            <a:solidFill>
              <a:srgbClr val="F5D9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1874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</a:rPr>
              <a:t>JOURNÉES BIEN-ÊTRE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766560" y="25008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600" b="1" dirty="0">
                <a:solidFill>
                  <a:srgbClr val="17324D"/>
                </a:solidFill>
              </a:rPr>
              <a:t>5 journées pour les salariés ayant réalisé au moins 15 activités physiques au cours des 12 derniers mois.</a:t>
            </a:r>
            <a:endParaRPr lang="en-US" sz="1600" b="1" dirty="0">
              <a:solidFill>
                <a:srgbClr val="17324D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641080" y="3063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</a:rPr>
              <a:t>↓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766560" y="35478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9E0B"/>
                </a:solidFill>
              </a:rPr>
              <a:t>5 jours bien-être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903720" y="4160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788A"/>
                </a:solidFill>
              </a:rPr>
              <a:t>Le calcul utilise une fenêtre dynamique de 12 mois.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2E6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2F56"/>
                </a:solidFill>
                <a:latin typeface="Aptos Display"/>
              </a:defRPr>
            </a:pPr>
            <a:r>
              <a:t>8. Monitoring, qualité et résilience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987552"/>
            <a:ext cx="109728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E6080"/>
                </a:solidFill>
                <a:latin typeface="Aptos"/>
              </a:defRPr>
            </a:pPr>
            <a:r>
              <a:t>Contrôler la cohérence du pipeline et assurer la reprise automatique après incident.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00200"/>
            <a:ext cx="193852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2000" b="1">
                <a:solidFill>
                  <a:srgbClr val="102F56"/>
                </a:solidFill>
                <a:latin typeface="Aptos"/>
              </a:defRPr>
            </a:pPr>
            <a:r>
              <a:t>2 550</a:t>
            </a:r>
          </a:p>
          <a:p>
            <a:pPr algn="ctr">
              <a:defRPr sz="950">
                <a:solidFill>
                  <a:srgbClr val="4E6080"/>
                </a:solidFill>
                <a:latin typeface="Aptos"/>
              </a:defRPr>
            </a:pPr>
            <a:r>
              <a:t>PostgreSQL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62072" y="1600200"/>
            <a:ext cx="193852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2000" b="1">
                <a:solidFill>
                  <a:srgbClr val="102F56"/>
                </a:solidFill>
                <a:latin typeface="Aptos"/>
              </a:defRPr>
            </a:pPr>
            <a:r>
              <a:t>2 550</a:t>
            </a:r>
          </a:p>
          <a:p>
            <a:pPr algn="ctr">
              <a:defRPr sz="950">
                <a:solidFill>
                  <a:srgbClr val="4E6080"/>
                </a:solidFill>
                <a:latin typeface="Aptos"/>
              </a:defRPr>
            </a:pPr>
            <a:r>
              <a:t>Delta activities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9784" y="1600200"/>
            <a:ext cx="193852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2000" b="1">
                <a:solidFill>
                  <a:srgbClr val="102F56"/>
                </a:solidFill>
                <a:latin typeface="Aptos"/>
              </a:defRPr>
            </a:pPr>
            <a:r>
              <a:t>0</a:t>
            </a:r>
          </a:p>
          <a:p>
            <a:pPr algn="ctr">
              <a:defRPr sz="950">
                <a:solidFill>
                  <a:srgbClr val="4E6080"/>
                </a:solidFill>
                <a:latin typeface="Aptos"/>
              </a:defRPr>
            </a:pPr>
            <a:r>
              <a:t>Écart de volume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97496" y="1600200"/>
            <a:ext cx="193852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2000" b="1">
                <a:solidFill>
                  <a:srgbClr val="102F56"/>
                </a:solidFill>
                <a:latin typeface="Aptos"/>
              </a:defRPr>
            </a:pPr>
            <a:r>
              <a:t>161</a:t>
            </a:r>
          </a:p>
          <a:p>
            <a:pPr algn="ctr">
              <a:defRPr sz="950">
                <a:solidFill>
                  <a:srgbClr val="4E6080"/>
                </a:solidFill>
                <a:latin typeface="Aptos"/>
              </a:defRPr>
            </a:pPr>
            <a:r>
              <a:t>employee_benefits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65208" y="1600200"/>
            <a:ext cx="193852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2000" b="1">
                <a:solidFill>
                  <a:srgbClr val="102F56"/>
                </a:solidFill>
                <a:latin typeface="Aptos"/>
              </a:defRPr>
            </a:pPr>
            <a:r>
              <a:t>OK</a:t>
            </a:r>
          </a:p>
          <a:p>
            <a:pPr algn="ctr">
              <a:defRPr sz="950">
                <a:solidFill>
                  <a:srgbClr val="4E6080"/>
                </a:solidFill>
                <a:latin typeface="Aptos"/>
              </a:defRPr>
            </a:pPr>
            <a:r>
              <a:t>État global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880360"/>
            <a:ext cx="3291840" cy="2514600"/>
          </a:xfrm>
          <a:prstGeom prst="roundRect">
            <a:avLst/>
          </a:prstGeom>
          <a:solidFill>
            <a:srgbClr val="F5F8FD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CONTRÔLES QUALITÉ</a:t>
            </a:r>
          </a:p>
          <a:p>
            <a:pPr algn="ctr">
              <a:defRPr sz="1100">
                <a:solidFill>
                  <a:srgbClr val="4E6080"/>
                </a:solidFill>
                <a:latin typeface="Aptos"/>
              </a:defRPr>
            </a:pPr>
            <a:r>
              <a:t>✓ Doublons</a:t>
            </a:r>
            <a:br/>
            <a:r>
              <a:t>✓ Valeurs NULL</a:t>
            </a:r>
            <a:br/>
            <a:r>
              <a:t>✓ Dates incohérentes</a:t>
            </a:r>
            <a:br/>
            <a:r>
              <a:t>✓ Distances négatives</a:t>
            </a:r>
            <a:br/>
            <a:r>
              <a:t>✓ Cohérence employee_benefits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880360"/>
            <a:ext cx="3291840" cy="2514600"/>
          </a:xfrm>
          <a:prstGeom prst="roundRect">
            <a:avLst/>
          </a:prstGeom>
          <a:solidFill>
            <a:srgbClr val="F5F8FD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RÉSILIENCE</a:t>
            </a:r>
          </a:p>
          <a:p>
            <a:pPr algn="ctr">
              <a:defRPr sz="1100">
                <a:solidFill>
                  <a:srgbClr val="4E6080"/>
                </a:solidFill>
                <a:latin typeface="Aptos"/>
              </a:defRPr>
            </a:pPr>
            <a:r>
              <a:t>✓ Checkpoints persistants</a:t>
            </a:r>
            <a:br/>
            <a:r>
              <a:t>✓ Retry automatique</a:t>
            </a:r>
            <a:br/>
            <a:r>
              <a:t>✓ Pas d’avancement en cas d’échec</a:t>
            </a:r>
            <a:br/>
            <a:r>
              <a:t>✓ Reprise après rétablissement</a:t>
            </a:r>
            <a:br/>
            <a:r>
              <a:t>✓ Restart policies Docker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880360"/>
            <a:ext cx="3291840" cy="2514600"/>
          </a:xfrm>
          <a:prstGeom prst="roundRect">
            <a:avLst/>
          </a:prstGeom>
          <a:solidFill>
            <a:srgbClr val="E2EBFC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PRINCIPE</a:t>
            </a:r>
          </a:p>
          <a:p>
            <a:pPr algn="ctr">
              <a:defRPr sz="1100">
                <a:solidFill>
                  <a:srgbClr val="4E6080"/>
                </a:solidFill>
                <a:latin typeface="Aptos"/>
              </a:defRPr>
            </a:pPr>
            <a:r>
              <a:t>Une version Delta n’est validée qu’après succès du calcul métier et de l’export.</a:t>
            </a:r>
            <a:br/>
            <a:r>
              <a:t/>
            </a:r>
            <a:br/>
            <a:r>
              <a:t>En cas d’échec, elle reste à retraiter automatiquement.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989320"/>
            <a:ext cx="10652760" cy="438912"/>
          </a:xfrm>
          <a:prstGeom prst="roundRect">
            <a:avLst/>
          </a:prstGeom>
          <a:solidFill>
            <a:srgbClr val="E2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02F56"/>
                </a:solidFill>
                <a:latin typeface="Aptos"/>
              </a:defRPr>
            </a:pPr>
            <a:r>
              <a:t>Une version n’est considérée comme traitée qu’après succès complet du pipeline.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2E6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2F56"/>
                </a:solidFill>
                <a:latin typeface="Aptos Display"/>
              </a:defRPr>
            </a:pPr>
            <a:r>
              <a:t>9. Restitution Power BI : indicateurs métier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987552"/>
            <a:ext cx="109728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E6080"/>
                </a:solidFill>
                <a:latin typeface="Aptos"/>
              </a:defRPr>
            </a:pPr>
            <a:r>
              <a:t>Restituer les résultats métier produits automatiquement par le pipeline.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2743200" cy="1554480"/>
          </a:xfrm>
          <a:prstGeom prst="roundRect">
            <a:avLst/>
          </a:prstGeom>
          <a:solidFill>
            <a:srgbClr val="F5F8FD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PRIME SPORTIVE</a:t>
            </a:r>
          </a:p>
          <a:p>
            <a:pPr algn="ctr">
              <a:defRPr sz="1100">
                <a:solidFill>
                  <a:srgbClr val="4E6080"/>
                </a:solidFill>
                <a:latin typeface="Aptos"/>
              </a:defRPr>
            </a:pPr>
            <a:r>
              <a:t>Montants potentiels et attribués selon les trajets sportifs validés.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600200"/>
            <a:ext cx="2743200" cy="1554480"/>
          </a:xfrm>
          <a:prstGeom prst="roundRect">
            <a:avLst/>
          </a:prstGeom>
          <a:solidFill>
            <a:srgbClr val="F5F8FD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JOURNÉES BIEN-ÊTRE</a:t>
            </a:r>
          </a:p>
          <a:p>
            <a:pPr algn="ctr">
              <a:defRPr sz="1100">
                <a:solidFill>
                  <a:srgbClr val="4E6080"/>
                </a:solidFill>
                <a:latin typeface="Aptos"/>
              </a:defRPr>
            </a:pPr>
            <a:r>
              <a:t>5 journées pour les salariés ayant réalisé au moins 15 activités sur 12 mois.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600200"/>
            <a:ext cx="2743200" cy="1554480"/>
          </a:xfrm>
          <a:prstGeom prst="roundRect">
            <a:avLst/>
          </a:prstGeom>
          <a:solidFill>
            <a:srgbClr val="F5F8FD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PRATIQUES SPORTIVES</a:t>
            </a:r>
          </a:p>
          <a:p>
            <a:pPr algn="ctr">
              <a:defRPr sz="1100">
                <a:solidFill>
                  <a:srgbClr val="4E6080"/>
                </a:solidFill>
                <a:latin typeface="Aptos"/>
              </a:defRPr>
            </a:pPr>
            <a:r>
              <a:t>Répartition des activités par sport, salarié et Business Unit.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64040" y="1600200"/>
            <a:ext cx="2057400" cy="1554480"/>
          </a:xfrm>
          <a:prstGeom prst="roundRect">
            <a:avLst/>
          </a:prstGeom>
          <a:solidFill>
            <a:srgbClr val="E2EBFC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POWER BI</a:t>
            </a:r>
          </a:p>
          <a:p>
            <a:pPr algn="ctr">
              <a:defRPr sz="1050">
                <a:solidFill>
                  <a:srgbClr val="4E6080"/>
                </a:solidFill>
                <a:latin typeface="Aptos"/>
              </a:defRPr>
            </a:pPr>
            <a:r>
              <a:t>Couche de restitution des résultats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3703320"/>
            <a:ext cx="1920240" cy="685800"/>
          </a:xfrm>
          <a:prstGeom prst="roundRect">
            <a:avLst/>
          </a:prstGeom>
          <a:solidFill>
            <a:srgbClr val="2575F0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ptos"/>
              </a:defRPr>
            </a:pPr>
            <a:r>
              <a:t>Nouvelle version Delta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49039" y="4050791"/>
            <a:ext cx="411481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60520" y="3703320"/>
            <a:ext cx="1920240" cy="685800"/>
          </a:xfrm>
          <a:prstGeom prst="roundRect">
            <a:avLst/>
          </a:prstGeom>
          <a:solidFill>
            <a:srgbClr val="6D3FE2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ptos"/>
              </a:defRPr>
            </a:pPr>
            <a:r>
              <a:t>Worker automatique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4050791"/>
            <a:ext cx="411480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92240" y="3703320"/>
            <a:ext cx="1920240" cy="685800"/>
          </a:xfrm>
          <a:prstGeom prst="roundRect">
            <a:avLst/>
          </a:prstGeom>
          <a:solidFill>
            <a:srgbClr val="29AB5E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employee_benefits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0" y="4050791"/>
            <a:ext cx="411480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23960" y="3703320"/>
            <a:ext cx="1600200" cy="685800"/>
          </a:xfrm>
          <a:prstGeom prst="roundRect">
            <a:avLst/>
          </a:prstGeom>
          <a:solidFill>
            <a:srgbClr val="FACD57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050" b="1">
                <a:solidFill>
                  <a:srgbClr val="14181F"/>
                </a:solidFill>
                <a:latin typeface="Aptos"/>
              </a:defRPr>
            </a:pPr>
            <a:r>
              <a:t>CSV régénérés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989320"/>
            <a:ext cx="10652760" cy="438912"/>
          </a:xfrm>
          <a:prstGeom prst="roundRect">
            <a:avLst/>
          </a:prstGeom>
          <a:solidFill>
            <a:srgbClr val="E2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02F56"/>
                </a:solidFill>
                <a:latin typeface="Aptos"/>
              </a:defRPr>
            </a:pPr>
            <a:r>
              <a:t>Power BI restitue les données préparées par le pipeline ; une actualisation affiche les derniers résultats.</a:t>
            </a:r>
          </a:p>
        </p:txBody>
      </p:sp>
    </p:spTree>
    <p:extLst>
      <p:ext uri="{BB962C8B-B14F-4D97-AF65-F5344CB8AC3E}">
        <p14:creationId xmlns:p14="http://schemas.microsoft.com/office/powerpoint/2010/main" val="1045315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smtClean="0">
                <a:solidFill>
                  <a:srgbClr val="17324D"/>
                </a:solidFill>
              </a:rPr>
              <a:t>10. Tableau de </a:t>
            </a:r>
            <a:r>
              <a:rPr lang="en-US" sz="2600" b="1" dirty="0" err="1" smtClean="0">
                <a:solidFill>
                  <a:srgbClr val="17324D"/>
                </a:solidFill>
              </a:rPr>
              <a:t>bord</a:t>
            </a:r>
            <a:r>
              <a:rPr lang="en-US" sz="2600" b="1" dirty="0" smtClean="0">
                <a:solidFill>
                  <a:srgbClr val="17324D"/>
                </a:solidFill>
              </a:rPr>
              <a:t> Power </a:t>
            </a:r>
            <a:r>
              <a:rPr lang="en-US" sz="2600" b="1" dirty="0">
                <a:solidFill>
                  <a:srgbClr val="17324D"/>
                </a:solidFill>
              </a:rPr>
              <a:t>BI</a:t>
            </a:r>
            <a:endParaRPr lang="en-US" sz="2600" dirty="0"/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989457"/>
            <a:ext cx="9652299" cy="54579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2E6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2F56"/>
                </a:solidFill>
                <a:latin typeface="Aptos Display"/>
              </a:defRPr>
            </a:pPr>
            <a:r>
              <a:t>11. Démonstration live : 1 événement → pipeline automatique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98755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E6080"/>
                </a:solidFill>
                <a:latin typeface="Aptos"/>
              </a:defRPr>
            </a:pPr>
            <a:r>
              <a:t>Prouver l’automatisation de bout en bout à partir d’une seule nouvelle activité.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28800"/>
            <a:ext cx="1965960" cy="1417320"/>
          </a:xfrm>
          <a:prstGeom prst="roundRect">
            <a:avLst/>
          </a:prstGeom>
          <a:solidFill>
            <a:srgbClr val="102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>
              <a:defRPr sz="1220" b="1">
                <a:solidFill>
                  <a:srgbClr val="FFFFFF"/>
                </a:solidFill>
                <a:latin typeface="Aptos"/>
              </a:defRPr>
            </a:pPr>
            <a:r>
              <a:t>① DÉCLENCHEUR</a:t>
            </a:r>
          </a:p>
          <a:p>
            <a:pPr algn="ctr">
              <a:defRPr sz="980">
                <a:solidFill>
                  <a:srgbClr val="FFFFFF"/>
                </a:solidFill>
                <a:latin typeface="Aptos"/>
              </a:defRPr>
            </a:pPr>
            <a:r>
              <a:t>Nouvelle activité</a:t>
            </a:r>
            <a:br/>
            <a:r>
              <a:t>PostgreSQL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61488" y="1828800"/>
            <a:ext cx="1965960" cy="1417320"/>
          </a:xfrm>
          <a:prstGeom prst="roundRect">
            <a:avLst/>
          </a:prstGeom>
          <a:solidFill>
            <a:srgbClr val="FA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>
              <a:defRPr sz="1220" b="1">
                <a:solidFill>
                  <a:srgbClr val="FFFFFF"/>
                </a:solidFill>
                <a:latin typeface="Aptos"/>
              </a:defRPr>
            </a:pPr>
            <a:r>
              <a:t>② SLACK</a:t>
            </a:r>
          </a:p>
          <a:p>
            <a:pPr algn="ctr">
              <a:defRPr sz="980">
                <a:solidFill>
                  <a:srgbClr val="FFFFFF"/>
                </a:solidFill>
                <a:latin typeface="Aptos"/>
              </a:defRPr>
            </a:pPr>
            <a:r>
              <a:t>Notification Slack</a:t>
            </a:r>
            <a:br/>
            <a:r>
              <a:t>automatique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11496" y="1828800"/>
            <a:ext cx="1965960" cy="1417320"/>
          </a:xfrm>
          <a:prstGeom prst="roundRect">
            <a:avLst/>
          </a:prstGeom>
          <a:solidFill>
            <a:srgbClr val="14B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>
              <a:defRPr sz="1220" b="1">
                <a:solidFill>
                  <a:srgbClr val="FFFFFF"/>
                </a:solidFill>
                <a:latin typeface="Aptos"/>
              </a:defRPr>
            </a:pPr>
            <a:r>
              <a:t>③ ANALYTIQUE</a:t>
            </a:r>
          </a:p>
          <a:p>
            <a:pPr algn="ctr">
              <a:defRPr sz="980">
                <a:solidFill>
                  <a:srgbClr val="FFFFFF"/>
                </a:solidFill>
                <a:latin typeface="Aptos"/>
              </a:defRPr>
            </a:pPr>
            <a:r>
              <a:t>Spark → Delta Lake</a:t>
            </a:r>
            <a:br/>
            <a:r>
              <a:t>Worker automatique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61504" y="1828800"/>
            <a:ext cx="1965960" cy="1417320"/>
          </a:xfrm>
          <a:prstGeom prst="roundRect">
            <a:avLst/>
          </a:prstGeom>
          <a:solidFill>
            <a:srgbClr val="6D3F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>
              <a:defRPr sz="1220" b="1">
                <a:solidFill>
                  <a:srgbClr val="FFFFFF"/>
                </a:solidFill>
                <a:latin typeface="Aptos"/>
              </a:defRPr>
            </a:pPr>
            <a:r>
              <a:t>④ MÉTIER</a:t>
            </a:r>
          </a:p>
          <a:p>
            <a:pPr algn="ctr">
              <a:defRPr sz="980">
                <a:solidFill>
                  <a:srgbClr val="FFFFFF"/>
                </a:solidFill>
                <a:latin typeface="Aptos"/>
              </a:defRPr>
            </a:pPr>
            <a:r>
              <a:t>employee_benefits</a:t>
            </a:r>
            <a:br/>
            <a:r>
              <a:t>+ CSV régénérés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11512" y="1828800"/>
            <a:ext cx="1965960" cy="1417320"/>
          </a:xfrm>
          <a:prstGeom prst="roundRect">
            <a:avLst/>
          </a:prstGeom>
          <a:solidFill>
            <a:srgbClr val="29A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>
              <a:defRPr sz="1220" b="1">
                <a:solidFill>
                  <a:srgbClr val="FFFFFF"/>
                </a:solidFill>
                <a:latin typeface="Aptos"/>
              </a:defRPr>
            </a:pPr>
            <a:r>
              <a:t>⑤ RESTITUTION</a:t>
            </a:r>
          </a:p>
          <a:p>
            <a:pPr algn="ctr">
              <a:defRPr sz="980">
                <a:solidFill>
                  <a:srgbClr val="FFFFFF"/>
                </a:solidFill>
                <a:latin typeface="Aptos"/>
              </a:defRPr>
            </a:pPr>
            <a:r>
              <a:t>Actualisation</a:t>
            </a:r>
            <a:br/>
            <a:r>
              <a:t>Power BI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537460"/>
            <a:ext cx="384048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27448" y="2537460"/>
            <a:ext cx="384048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77456" y="2537460"/>
            <a:ext cx="384048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427464" y="2537460"/>
            <a:ext cx="384048" cy="0"/>
          </a:xfrm>
          <a:prstGeom prst="line">
            <a:avLst/>
          </a:prstGeom>
          <a:ln w="19050">
            <a:solidFill>
              <a:srgbClr val="3C4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514600" y="3401568"/>
            <a:ext cx="24688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4E6080"/>
                </a:solidFill>
                <a:latin typeface="Aptos"/>
              </a:defRPr>
            </a:pPr>
            <a:r>
              <a:t>Debezium → Redpanda → Consumer Python → Slack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4096512"/>
            <a:ext cx="6446520" cy="804672"/>
          </a:xfrm>
          <a:prstGeom prst="roundRect">
            <a:avLst/>
          </a:prstGeom>
          <a:solidFill>
            <a:srgbClr val="E2EBFC"/>
          </a:solidFill>
          <a:ln w="15240">
            <a:solidFill>
              <a:srgbClr val="2E6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02F56"/>
                </a:solidFill>
                <a:latin typeface="Aptos"/>
              </a:defRPr>
            </a:pPr>
            <a:r>
              <a:t>AUCUNE INTERVENTION MANUELLE APRÈS L’INSERT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15000"/>
            <a:ext cx="10652760" cy="457200"/>
          </a:xfrm>
          <a:prstGeom prst="roundRect">
            <a:avLst/>
          </a:prstGeom>
          <a:solidFill>
            <a:srgbClr val="E2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102F56"/>
                </a:solidFill>
                <a:latin typeface="Aptos"/>
              </a:defRPr>
            </a:pPr>
            <a:r>
              <a:t>Une seule activité déclenche automatiquement Slack, le traitement analytique, le recalcul métier et la préparation des données Power BI.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2E6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02F56"/>
                </a:solidFill>
                <a:latin typeface="Aptos Display"/>
              </a:defRPr>
            </a:pPr>
            <a:r>
              <a:t>12. Bilan, limites et évolutions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987552"/>
            <a:ext cx="109728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E6080"/>
                </a:solidFill>
                <a:latin typeface="Aptos"/>
              </a:defRPr>
            </a:pPr>
            <a:r>
              <a:t>Un POC automatisé, observable et résilient qui valide la faisabilité technique.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565392"/>
            <a:ext cx="3017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E6080"/>
                </a:solidFill>
                <a:latin typeface="Aptos"/>
              </a:defRPr>
            </a:pPr>
            <a:r>
              <a:t>SPORT DATA SOLUTION • PROJET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565392"/>
            <a:ext cx="1143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E6080"/>
                </a:solidFill>
                <a:latin typeface="Aptos"/>
              </a:defRPr>
            </a:pPr>
            <a:r>
              <a:t>Fatou THIAM  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3657600" cy="4160520"/>
          </a:xfrm>
          <a:prstGeom prst="roundRect">
            <a:avLst/>
          </a:prstGeom>
          <a:solidFill>
            <a:srgbClr val="F5F8FD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CE QUI EST VALIDÉ</a:t>
            </a:r>
          </a:p>
          <a:p>
            <a:pPr algn="ctr">
              <a:defRPr sz="1100">
                <a:solidFill>
                  <a:srgbClr val="4E6080"/>
                </a:solidFill>
                <a:latin typeface="Aptos"/>
              </a:defRPr>
            </a:pPr>
            <a:r>
              <a:t>✓ Architecture automatisée de bout en bout</a:t>
            </a:r>
            <a:br/>
            <a:r>
              <a:t>✓ CDC et streaming continus</a:t>
            </a:r>
            <a:br/>
            <a:r>
              <a:t>✓ Notifications Slack automatiques</a:t>
            </a:r>
            <a:br/>
            <a:r>
              <a:t>✓ Calcul métier et export CSV automatiques</a:t>
            </a:r>
            <a:br/>
            <a:r>
              <a:t>✓ Checkpoints et reprise sur erreur</a:t>
            </a:r>
            <a:br/>
            <a:r>
              <a:t>✓ Restitution Power BI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554480"/>
            <a:ext cx="3429000" cy="4160520"/>
          </a:xfrm>
          <a:prstGeom prst="roundRect">
            <a:avLst/>
          </a:prstGeom>
          <a:solidFill>
            <a:srgbClr val="F5F8FD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LIMITES DU POC</a:t>
            </a:r>
          </a:p>
          <a:p>
            <a:pPr algn="ctr">
              <a:defRPr sz="1070">
                <a:solidFill>
                  <a:srgbClr val="4E6080"/>
                </a:solidFill>
                <a:latin typeface="Aptos"/>
              </a:defRPr>
            </a:pPr>
            <a:r>
              <a:t>• Données Strava simulées</a:t>
            </a:r>
            <a:br/>
            <a:r>
              <a:t>• Environnement Docker local</a:t>
            </a:r>
            <a:br/>
            <a:r>
              <a:t>• Règles métier paramétrées dans le code</a:t>
            </a:r>
            <a:br/>
            <a:r>
              <a:t>• Actualisation Power BI Desktop nécessaire</a:t>
            </a:r>
            <a:br/>
            <a:r>
              <a:t>• POC non dimensionné pour la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520440" cy="4160520"/>
          </a:xfrm>
          <a:prstGeom prst="roundRect">
            <a:avLst/>
          </a:prstGeom>
          <a:solidFill>
            <a:srgbClr val="F5F8FD"/>
          </a:solidFill>
          <a:ln w="12700">
            <a:solidFill>
              <a:srgbClr val="E3E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82296" rIns="109728" bIns="54864" rtlCol="0" anchor="ctr"/>
          <a:lstStyle/>
          <a:p>
            <a:pPr algn="ctr">
              <a:defRPr sz="1300" b="1">
                <a:solidFill>
                  <a:srgbClr val="102F56"/>
                </a:solidFill>
                <a:latin typeface="Aptos"/>
              </a:defRPr>
            </a:pPr>
            <a:r>
              <a:t>ÉVOLUTIONS</a:t>
            </a:r>
          </a:p>
          <a:p>
            <a:pPr algn="ctr">
              <a:defRPr sz="1070">
                <a:solidFill>
                  <a:srgbClr val="4E6080"/>
                </a:solidFill>
                <a:latin typeface="Aptos"/>
              </a:defRPr>
            </a:pPr>
            <a:r>
              <a:t>• Connexion directe à Strava</a:t>
            </a:r>
            <a:br/>
            <a:r>
              <a:t>• Paramètres métier externalisés</a:t>
            </a:r>
            <a:br/>
            <a:r>
              <a:t>• Monitoring et alerting renforcés</a:t>
            </a:r>
            <a:br/>
            <a:r>
              <a:t>• Orchestrateur dédié en production</a:t>
            </a:r>
            <a:br/>
            <a:r>
              <a:t>• Power BI Service</a:t>
            </a:r>
            <a:br/>
            <a:r>
              <a:t>• Déploiement cloud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989320"/>
            <a:ext cx="10652760" cy="438912"/>
          </a:xfrm>
          <a:prstGeom prst="roundRect">
            <a:avLst/>
          </a:prstGeom>
          <a:solidFill>
            <a:srgbClr val="E2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02F56"/>
                </a:solidFill>
                <a:latin typeface="Aptos"/>
              </a:defRPr>
            </a:pPr>
            <a:r>
              <a:t>Une nouvelle activité suffit à déclencher automatiquement le traitement jusqu’aux données destinées à Power BI.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3525</TotalTime>
  <Words>924</Words>
  <Application>Microsoft Office PowerPoint</Application>
  <PresentationFormat>Grand écran</PresentationFormat>
  <Paragraphs>209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OpenClassrooms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 Data Solution — Création et automatisation d’une architecture de données</dc:title>
  <dc:subject>Projet 12 - Sport Data Solution</dc:subject>
  <dc:creator>Fatou THIAM</dc:creator>
  <cp:lastModifiedBy>Fatima THIAM GUEYE</cp:lastModifiedBy>
  <cp:revision>21</cp:revision>
  <dcterms:created xsi:type="dcterms:W3CDTF">2026-09-30T23:38:53Z</dcterms:created>
  <dcterms:modified xsi:type="dcterms:W3CDTF">2026-10-06T21:24:05Z</dcterms:modified>
</cp:coreProperties>
</file>